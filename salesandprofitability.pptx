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Pheba%20Sarah\Excel%20Data%20Adventur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[Excel Data Adventures.xlsx]Pivot Table!PivotTable2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IN"/>
              <a:t>Regionwise</a:t>
            </a:r>
            <a:r>
              <a:rPr lang="en-IN" baseline="0"/>
              <a:t> Profitability Margin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>
            <a:gsLst>
              <a:gs pos="0">
                <a:schemeClr val="accent2"/>
              </a:gs>
              <a:gs pos="100000">
                <a:schemeClr val="accent2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2"/>
                </a:gs>
                <a:gs pos="100000">
                  <a:schemeClr val="accent2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>
            <a:gsLst>
              <a:gs pos="0">
                <a:schemeClr val="accent2"/>
              </a:gs>
              <a:gs pos="100000">
                <a:schemeClr val="accent2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0">
                <a:schemeClr val="accent2"/>
              </a:gs>
              <a:gs pos="100000">
                <a:schemeClr val="accent2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>
            <a:gsLst>
              <a:gs pos="0">
                <a:schemeClr val="accent2"/>
              </a:gs>
              <a:gs pos="100000">
                <a:schemeClr val="accent2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>
            <a:gsLst>
              <a:gs pos="0">
                <a:schemeClr val="accent2"/>
              </a:gs>
              <a:gs pos="100000">
                <a:schemeClr val="accent2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"/>
          <c:y val="0.15310185185185185"/>
          <c:w val="0.93888888888888888"/>
          <c:h val="0.698534193642461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Table'!$B$10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Table'!$A$11:$A$15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'Pivot Table'!$B$11:$B$15</c:f>
              <c:numCache>
                <c:formatCode>0%</c:formatCode>
                <c:ptCount val="4"/>
                <c:pt idx="0">
                  <c:v>0.94249336570492914</c:v>
                </c:pt>
                <c:pt idx="1">
                  <c:v>0.91170971134743484</c:v>
                </c:pt>
                <c:pt idx="2">
                  <c:v>0.560345808212945</c:v>
                </c:pt>
                <c:pt idx="3">
                  <c:v>0.20182166826462131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C0-4C8F-8F54-D103EB06C79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742871743"/>
        <c:axId val="742872223"/>
      </c:barChart>
      <c:catAx>
        <c:axId val="742871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2872223"/>
        <c:crosses val="autoZero"/>
        <c:auto val="1"/>
        <c:lblAlgn val="ctr"/>
        <c:lblOffset val="100"/>
        <c:noMultiLvlLbl val="0"/>
      </c:catAx>
      <c:valAx>
        <c:axId val="742872223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742871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B42AB4-343D-4A5F-9FE0-4BD30F966BCB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4DF6FA-F5E6-4172-BE35-CC9B84C5FA43}">
      <dgm:prSet/>
      <dgm:spPr/>
      <dgm:t>
        <a:bodyPr/>
        <a:lstStyle/>
        <a:p>
          <a:r>
            <a:rPr lang="en-IN" b="1" dirty="0"/>
            <a:t>The Cleanup: </a:t>
          </a:r>
          <a:r>
            <a:rPr lang="en-IN" dirty="0"/>
            <a:t>We moved from raw CSV exports to a structured format, handling variations in date formats, unit prices and ensuring every "Order ID" was unique and accounted for.</a:t>
          </a:r>
          <a:endParaRPr lang="en-US" dirty="0"/>
        </a:p>
      </dgm:t>
    </dgm:pt>
    <dgm:pt modelId="{73DD780D-5B5D-4312-B577-CDA96B11BAB6}" type="parTrans" cxnId="{60E65A3E-C229-4B92-A42D-F52B8E84C189}">
      <dgm:prSet/>
      <dgm:spPr/>
      <dgm:t>
        <a:bodyPr/>
        <a:lstStyle/>
        <a:p>
          <a:endParaRPr lang="en-US"/>
        </a:p>
      </dgm:t>
    </dgm:pt>
    <dgm:pt modelId="{CE92EABC-8620-467F-B543-D991ECB68358}" type="sibTrans" cxnId="{60E65A3E-C229-4B92-A42D-F52B8E84C189}">
      <dgm:prSet/>
      <dgm:spPr/>
      <dgm:t>
        <a:bodyPr/>
        <a:lstStyle/>
        <a:p>
          <a:endParaRPr lang="en-US"/>
        </a:p>
      </dgm:t>
    </dgm:pt>
    <dgm:pt modelId="{30795959-304C-49E7-9D6F-310B7F503659}">
      <dgm:prSet/>
      <dgm:spPr/>
      <dgm:t>
        <a:bodyPr/>
        <a:lstStyle/>
        <a:p>
          <a:r>
            <a:rPr lang="en-IN"/>
            <a:t>Unit price converted to </a:t>
          </a:r>
          <a:r>
            <a:rPr lang="en-IN" b="1"/>
            <a:t>Currency Format  </a:t>
          </a:r>
          <a:endParaRPr lang="en-US"/>
        </a:p>
      </dgm:t>
    </dgm:pt>
    <dgm:pt modelId="{049399ED-6968-44CD-B40B-7D2929BF9F51}" type="parTrans" cxnId="{2DD6EF57-CFA8-4741-B2D7-67692CBFDF36}">
      <dgm:prSet/>
      <dgm:spPr/>
      <dgm:t>
        <a:bodyPr/>
        <a:lstStyle/>
        <a:p>
          <a:endParaRPr lang="en-US"/>
        </a:p>
      </dgm:t>
    </dgm:pt>
    <dgm:pt modelId="{78272B8E-CA4A-4859-8B4B-E8FFD96AB774}" type="sibTrans" cxnId="{2DD6EF57-CFA8-4741-B2D7-67692CBFDF36}">
      <dgm:prSet/>
      <dgm:spPr/>
      <dgm:t>
        <a:bodyPr/>
        <a:lstStyle/>
        <a:p>
          <a:endParaRPr lang="en-US"/>
        </a:p>
      </dgm:t>
    </dgm:pt>
    <dgm:pt modelId="{E6C8FC85-1B3E-4715-89B6-246954DEEF06}">
      <dgm:prSet/>
      <dgm:spPr/>
      <dgm:t>
        <a:bodyPr/>
        <a:lstStyle/>
        <a:p>
          <a:r>
            <a:rPr lang="en-IN" b="1"/>
            <a:t>Table Creation </a:t>
          </a:r>
          <a:r>
            <a:rPr lang="en-IN"/>
            <a:t>for weaving in a structured look</a:t>
          </a:r>
          <a:endParaRPr lang="en-US"/>
        </a:p>
      </dgm:t>
    </dgm:pt>
    <dgm:pt modelId="{2B07DD4A-87A1-4B2A-B21F-9064EB470946}" type="parTrans" cxnId="{698C5A1C-A6C2-4F2E-AC59-DAE30F8ED8A6}">
      <dgm:prSet/>
      <dgm:spPr/>
      <dgm:t>
        <a:bodyPr/>
        <a:lstStyle/>
        <a:p>
          <a:endParaRPr lang="en-US"/>
        </a:p>
      </dgm:t>
    </dgm:pt>
    <dgm:pt modelId="{19DFE01B-1F53-41C1-9811-E0DCF8B51854}" type="sibTrans" cxnId="{698C5A1C-A6C2-4F2E-AC59-DAE30F8ED8A6}">
      <dgm:prSet/>
      <dgm:spPr/>
      <dgm:t>
        <a:bodyPr/>
        <a:lstStyle/>
        <a:p>
          <a:endParaRPr lang="en-US"/>
        </a:p>
      </dgm:t>
    </dgm:pt>
    <dgm:pt modelId="{C7767D97-879B-4349-A88D-54C1E5D3011F}">
      <dgm:prSet/>
      <dgm:spPr/>
      <dgm:t>
        <a:bodyPr/>
        <a:lstStyle/>
        <a:p>
          <a:r>
            <a:rPr lang="en-IN"/>
            <a:t>Applied </a:t>
          </a:r>
          <a:r>
            <a:rPr lang="en-IN" b="1"/>
            <a:t>Format</a:t>
          </a:r>
          <a:r>
            <a:rPr lang="en-IN"/>
            <a:t> to the table to </a:t>
          </a:r>
          <a:r>
            <a:rPr lang="en-IN" b="1"/>
            <a:t>Auto Fit Column Width</a:t>
          </a:r>
          <a:endParaRPr lang="en-US"/>
        </a:p>
      </dgm:t>
    </dgm:pt>
    <dgm:pt modelId="{D6B17100-3CBC-4272-A179-7B962DCCBFF9}" type="parTrans" cxnId="{917FD76A-E1BF-4F78-9689-3F1EBC0EB84B}">
      <dgm:prSet/>
      <dgm:spPr/>
      <dgm:t>
        <a:bodyPr/>
        <a:lstStyle/>
        <a:p>
          <a:endParaRPr lang="en-US"/>
        </a:p>
      </dgm:t>
    </dgm:pt>
    <dgm:pt modelId="{299F329B-9E02-4276-A0FE-187DC4FB8FBD}" type="sibTrans" cxnId="{917FD76A-E1BF-4F78-9689-3F1EBC0EB84B}">
      <dgm:prSet/>
      <dgm:spPr/>
      <dgm:t>
        <a:bodyPr/>
        <a:lstStyle/>
        <a:p>
          <a:endParaRPr lang="en-US"/>
        </a:p>
      </dgm:t>
    </dgm:pt>
    <dgm:pt modelId="{53473521-022B-4224-A2F7-CF235B7068D4}" type="pres">
      <dgm:prSet presAssocID="{C0B42AB4-343D-4A5F-9FE0-4BD30F966BC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9E1FAF-F434-4D91-A47B-F15988223462}" type="pres">
      <dgm:prSet presAssocID="{B14DF6FA-F5E6-4172-BE35-CC9B84C5FA43}" presName="hierRoot1" presStyleCnt="0"/>
      <dgm:spPr/>
    </dgm:pt>
    <dgm:pt modelId="{E85A001D-C74F-4776-944E-01A7514EB0AE}" type="pres">
      <dgm:prSet presAssocID="{B14DF6FA-F5E6-4172-BE35-CC9B84C5FA43}" presName="composite" presStyleCnt="0"/>
      <dgm:spPr/>
    </dgm:pt>
    <dgm:pt modelId="{EAB07C74-6FA1-405B-8562-48524A73C6DB}" type="pres">
      <dgm:prSet presAssocID="{B14DF6FA-F5E6-4172-BE35-CC9B84C5FA43}" presName="background" presStyleLbl="node0" presStyleIdx="0" presStyleCnt="1"/>
      <dgm:spPr/>
    </dgm:pt>
    <dgm:pt modelId="{981A5706-F50B-43A6-ACEB-B5B93979464E}" type="pres">
      <dgm:prSet presAssocID="{B14DF6FA-F5E6-4172-BE35-CC9B84C5FA43}" presName="text" presStyleLbl="fgAcc0" presStyleIdx="0" presStyleCnt="1">
        <dgm:presLayoutVars>
          <dgm:chPref val="3"/>
        </dgm:presLayoutVars>
      </dgm:prSet>
      <dgm:spPr/>
    </dgm:pt>
    <dgm:pt modelId="{E9703074-2310-4B2C-AF33-6857667E238A}" type="pres">
      <dgm:prSet presAssocID="{B14DF6FA-F5E6-4172-BE35-CC9B84C5FA43}" presName="hierChild2" presStyleCnt="0"/>
      <dgm:spPr/>
    </dgm:pt>
    <dgm:pt modelId="{2041A869-9F33-4AB2-A6A4-DFBC08015522}" type="pres">
      <dgm:prSet presAssocID="{049399ED-6968-44CD-B40B-7D2929BF9F51}" presName="Name10" presStyleLbl="parChTrans1D2" presStyleIdx="0" presStyleCnt="3"/>
      <dgm:spPr/>
    </dgm:pt>
    <dgm:pt modelId="{AE8EF10D-69F7-4C67-924C-113C80D531EA}" type="pres">
      <dgm:prSet presAssocID="{30795959-304C-49E7-9D6F-310B7F503659}" presName="hierRoot2" presStyleCnt="0"/>
      <dgm:spPr/>
    </dgm:pt>
    <dgm:pt modelId="{3AE2B235-CB71-4589-A6AA-7BAF7B562DBC}" type="pres">
      <dgm:prSet presAssocID="{30795959-304C-49E7-9D6F-310B7F503659}" presName="composite2" presStyleCnt="0"/>
      <dgm:spPr/>
    </dgm:pt>
    <dgm:pt modelId="{B343EC87-5E92-4E81-8781-E5061BCB2419}" type="pres">
      <dgm:prSet presAssocID="{30795959-304C-49E7-9D6F-310B7F503659}" presName="background2" presStyleLbl="node2" presStyleIdx="0" presStyleCnt="3"/>
      <dgm:spPr/>
    </dgm:pt>
    <dgm:pt modelId="{CB62E564-69A8-4BE4-94D8-C45B1AEB1322}" type="pres">
      <dgm:prSet presAssocID="{30795959-304C-49E7-9D6F-310B7F503659}" presName="text2" presStyleLbl="fgAcc2" presStyleIdx="0" presStyleCnt="3">
        <dgm:presLayoutVars>
          <dgm:chPref val="3"/>
        </dgm:presLayoutVars>
      </dgm:prSet>
      <dgm:spPr/>
    </dgm:pt>
    <dgm:pt modelId="{BDD54689-4065-480C-BD48-4B18C34F9C28}" type="pres">
      <dgm:prSet presAssocID="{30795959-304C-49E7-9D6F-310B7F503659}" presName="hierChild3" presStyleCnt="0"/>
      <dgm:spPr/>
    </dgm:pt>
    <dgm:pt modelId="{B8B9279A-478F-4365-894B-E6BBEA0780B6}" type="pres">
      <dgm:prSet presAssocID="{2B07DD4A-87A1-4B2A-B21F-9064EB470946}" presName="Name10" presStyleLbl="parChTrans1D2" presStyleIdx="1" presStyleCnt="3"/>
      <dgm:spPr/>
    </dgm:pt>
    <dgm:pt modelId="{AB5EA033-AB23-450B-AE66-29E5AD8C8AC6}" type="pres">
      <dgm:prSet presAssocID="{E6C8FC85-1B3E-4715-89B6-246954DEEF06}" presName="hierRoot2" presStyleCnt="0"/>
      <dgm:spPr/>
    </dgm:pt>
    <dgm:pt modelId="{6D87F914-823A-467E-B8DC-EA8FD2051AC3}" type="pres">
      <dgm:prSet presAssocID="{E6C8FC85-1B3E-4715-89B6-246954DEEF06}" presName="composite2" presStyleCnt="0"/>
      <dgm:spPr/>
    </dgm:pt>
    <dgm:pt modelId="{4544CB6B-D5A8-4463-801D-B4AC4755A7EC}" type="pres">
      <dgm:prSet presAssocID="{E6C8FC85-1B3E-4715-89B6-246954DEEF06}" presName="background2" presStyleLbl="node2" presStyleIdx="1" presStyleCnt="3"/>
      <dgm:spPr/>
    </dgm:pt>
    <dgm:pt modelId="{82A16FB3-AB73-46F1-9F8A-5BD7A307C640}" type="pres">
      <dgm:prSet presAssocID="{E6C8FC85-1B3E-4715-89B6-246954DEEF06}" presName="text2" presStyleLbl="fgAcc2" presStyleIdx="1" presStyleCnt="3">
        <dgm:presLayoutVars>
          <dgm:chPref val="3"/>
        </dgm:presLayoutVars>
      </dgm:prSet>
      <dgm:spPr/>
    </dgm:pt>
    <dgm:pt modelId="{D38A77AC-6FB2-4767-A731-0784E9B0E65C}" type="pres">
      <dgm:prSet presAssocID="{E6C8FC85-1B3E-4715-89B6-246954DEEF06}" presName="hierChild3" presStyleCnt="0"/>
      <dgm:spPr/>
    </dgm:pt>
    <dgm:pt modelId="{316E9E76-5B3C-4CE4-9F86-FEB85CAA98E6}" type="pres">
      <dgm:prSet presAssocID="{D6B17100-3CBC-4272-A179-7B962DCCBFF9}" presName="Name10" presStyleLbl="parChTrans1D2" presStyleIdx="2" presStyleCnt="3"/>
      <dgm:spPr/>
    </dgm:pt>
    <dgm:pt modelId="{C738DCA0-9E91-4F48-A8AC-58B21A82CB0E}" type="pres">
      <dgm:prSet presAssocID="{C7767D97-879B-4349-A88D-54C1E5D3011F}" presName="hierRoot2" presStyleCnt="0"/>
      <dgm:spPr/>
    </dgm:pt>
    <dgm:pt modelId="{6707F0B4-330A-424B-8D45-0AE042F0293B}" type="pres">
      <dgm:prSet presAssocID="{C7767D97-879B-4349-A88D-54C1E5D3011F}" presName="composite2" presStyleCnt="0"/>
      <dgm:spPr/>
    </dgm:pt>
    <dgm:pt modelId="{CB410770-30A2-405A-80CD-1F18AD0F5ABC}" type="pres">
      <dgm:prSet presAssocID="{C7767D97-879B-4349-A88D-54C1E5D3011F}" presName="background2" presStyleLbl="node2" presStyleIdx="2" presStyleCnt="3"/>
      <dgm:spPr/>
    </dgm:pt>
    <dgm:pt modelId="{75E6BFB1-7809-4B95-AD17-F7B580CE29C7}" type="pres">
      <dgm:prSet presAssocID="{C7767D97-879B-4349-A88D-54C1E5D3011F}" presName="text2" presStyleLbl="fgAcc2" presStyleIdx="2" presStyleCnt="3">
        <dgm:presLayoutVars>
          <dgm:chPref val="3"/>
        </dgm:presLayoutVars>
      </dgm:prSet>
      <dgm:spPr/>
    </dgm:pt>
    <dgm:pt modelId="{DFFD62B4-2B3D-449C-A9A6-C4A7245DAE81}" type="pres">
      <dgm:prSet presAssocID="{C7767D97-879B-4349-A88D-54C1E5D3011F}" presName="hierChild3" presStyleCnt="0"/>
      <dgm:spPr/>
    </dgm:pt>
  </dgm:ptLst>
  <dgm:cxnLst>
    <dgm:cxn modelId="{AFFFF20C-7858-494E-BD84-EC944D096465}" type="presOf" srcId="{E6C8FC85-1B3E-4715-89B6-246954DEEF06}" destId="{82A16FB3-AB73-46F1-9F8A-5BD7A307C640}" srcOrd="0" destOrd="0" presId="urn:microsoft.com/office/officeart/2005/8/layout/hierarchy1"/>
    <dgm:cxn modelId="{698C5A1C-A6C2-4F2E-AC59-DAE30F8ED8A6}" srcId="{B14DF6FA-F5E6-4172-BE35-CC9B84C5FA43}" destId="{E6C8FC85-1B3E-4715-89B6-246954DEEF06}" srcOrd="1" destOrd="0" parTransId="{2B07DD4A-87A1-4B2A-B21F-9064EB470946}" sibTransId="{19DFE01B-1F53-41C1-9811-E0DCF8B51854}"/>
    <dgm:cxn modelId="{60E65A3E-C229-4B92-A42D-F52B8E84C189}" srcId="{C0B42AB4-343D-4A5F-9FE0-4BD30F966BCB}" destId="{B14DF6FA-F5E6-4172-BE35-CC9B84C5FA43}" srcOrd="0" destOrd="0" parTransId="{73DD780D-5B5D-4312-B577-CDA96B11BAB6}" sibTransId="{CE92EABC-8620-467F-B543-D991ECB68358}"/>
    <dgm:cxn modelId="{917FD76A-E1BF-4F78-9689-3F1EBC0EB84B}" srcId="{B14DF6FA-F5E6-4172-BE35-CC9B84C5FA43}" destId="{C7767D97-879B-4349-A88D-54C1E5D3011F}" srcOrd="2" destOrd="0" parTransId="{D6B17100-3CBC-4272-A179-7B962DCCBFF9}" sibTransId="{299F329B-9E02-4276-A0FE-187DC4FB8FBD}"/>
    <dgm:cxn modelId="{2DD6EF57-CFA8-4741-B2D7-67692CBFDF36}" srcId="{B14DF6FA-F5E6-4172-BE35-CC9B84C5FA43}" destId="{30795959-304C-49E7-9D6F-310B7F503659}" srcOrd="0" destOrd="0" parTransId="{049399ED-6968-44CD-B40B-7D2929BF9F51}" sibTransId="{78272B8E-CA4A-4859-8B4B-E8FFD96AB774}"/>
    <dgm:cxn modelId="{2C64487B-809F-4D24-87B4-060B23C8A551}" type="presOf" srcId="{C0B42AB4-343D-4A5F-9FE0-4BD30F966BCB}" destId="{53473521-022B-4224-A2F7-CF235B7068D4}" srcOrd="0" destOrd="0" presId="urn:microsoft.com/office/officeart/2005/8/layout/hierarchy1"/>
    <dgm:cxn modelId="{7DF8B687-E4D7-41ED-B7EB-115364EB3F25}" type="presOf" srcId="{2B07DD4A-87A1-4B2A-B21F-9064EB470946}" destId="{B8B9279A-478F-4365-894B-E6BBEA0780B6}" srcOrd="0" destOrd="0" presId="urn:microsoft.com/office/officeart/2005/8/layout/hierarchy1"/>
    <dgm:cxn modelId="{2B67D3B0-7158-42AF-A79B-2174F674C500}" type="presOf" srcId="{049399ED-6968-44CD-B40B-7D2929BF9F51}" destId="{2041A869-9F33-4AB2-A6A4-DFBC08015522}" srcOrd="0" destOrd="0" presId="urn:microsoft.com/office/officeart/2005/8/layout/hierarchy1"/>
    <dgm:cxn modelId="{9E5215B4-D34C-495A-8A8E-0FF73CE94E62}" type="presOf" srcId="{B14DF6FA-F5E6-4172-BE35-CC9B84C5FA43}" destId="{981A5706-F50B-43A6-ACEB-B5B93979464E}" srcOrd="0" destOrd="0" presId="urn:microsoft.com/office/officeart/2005/8/layout/hierarchy1"/>
    <dgm:cxn modelId="{7E80F3C3-D580-4D23-9A2D-F6FC221E2408}" type="presOf" srcId="{C7767D97-879B-4349-A88D-54C1E5D3011F}" destId="{75E6BFB1-7809-4B95-AD17-F7B580CE29C7}" srcOrd="0" destOrd="0" presId="urn:microsoft.com/office/officeart/2005/8/layout/hierarchy1"/>
    <dgm:cxn modelId="{9B0650D4-CDE4-45CF-91C4-F37D6BA9DCF3}" type="presOf" srcId="{D6B17100-3CBC-4272-A179-7B962DCCBFF9}" destId="{316E9E76-5B3C-4CE4-9F86-FEB85CAA98E6}" srcOrd="0" destOrd="0" presId="urn:microsoft.com/office/officeart/2005/8/layout/hierarchy1"/>
    <dgm:cxn modelId="{0505F0EA-8E02-4129-AE22-83EE5F180D66}" type="presOf" srcId="{30795959-304C-49E7-9D6F-310B7F503659}" destId="{CB62E564-69A8-4BE4-94D8-C45B1AEB1322}" srcOrd="0" destOrd="0" presId="urn:microsoft.com/office/officeart/2005/8/layout/hierarchy1"/>
    <dgm:cxn modelId="{26A0AFBE-B7AF-4026-AC71-F84D78E56675}" type="presParOf" srcId="{53473521-022B-4224-A2F7-CF235B7068D4}" destId="{E59E1FAF-F434-4D91-A47B-F15988223462}" srcOrd="0" destOrd="0" presId="urn:microsoft.com/office/officeart/2005/8/layout/hierarchy1"/>
    <dgm:cxn modelId="{125B93A9-F564-4FB9-AD6F-1366F4134080}" type="presParOf" srcId="{E59E1FAF-F434-4D91-A47B-F15988223462}" destId="{E85A001D-C74F-4776-944E-01A7514EB0AE}" srcOrd="0" destOrd="0" presId="urn:microsoft.com/office/officeart/2005/8/layout/hierarchy1"/>
    <dgm:cxn modelId="{F582BF51-8864-4F32-9380-54FEB2FF1702}" type="presParOf" srcId="{E85A001D-C74F-4776-944E-01A7514EB0AE}" destId="{EAB07C74-6FA1-405B-8562-48524A73C6DB}" srcOrd="0" destOrd="0" presId="urn:microsoft.com/office/officeart/2005/8/layout/hierarchy1"/>
    <dgm:cxn modelId="{604002AF-16F2-4C4A-9F23-E2957442DBF9}" type="presParOf" srcId="{E85A001D-C74F-4776-944E-01A7514EB0AE}" destId="{981A5706-F50B-43A6-ACEB-B5B93979464E}" srcOrd="1" destOrd="0" presId="urn:microsoft.com/office/officeart/2005/8/layout/hierarchy1"/>
    <dgm:cxn modelId="{0F11D5E7-3A58-4881-AF4C-0D18059FF4DF}" type="presParOf" srcId="{E59E1FAF-F434-4D91-A47B-F15988223462}" destId="{E9703074-2310-4B2C-AF33-6857667E238A}" srcOrd="1" destOrd="0" presId="urn:microsoft.com/office/officeart/2005/8/layout/hierarchy1"/>
    <dgm:cxn modelId="{1D1861A2-441C-4974-B959-8FB988C0D6D0}" type="presParOf" srcId="{E9703074-2310-4B2C-AF33-6857667E238A}" destId="{2041A869-9F33-4AB2-A6A4-DFBC08015522}" srcOrd="0" destOrd="0" presId="urn:microsoft.com/office/officeart/2005/8/layout/hierarchy1"/>
    <dgm:cxn modelId="{E58441FF-82E0-42C1-9376-133B50BC4CD5}" type="presParOf" srcId="{E9703074-2310-4B2C-AF33-6857667E238A}" destId="{AE8EF10D-69F7-4C67-924C-113C80D531EA}" srcOrd="1" destOrd="0" presId="urn:microsoft.com/office/officeart/2005/8/layout/hierarchy1"/>
    <dgm:cxn modelId="{CC7BB9E2-A01A-40C9-96E2-E180A387F109}" type="presParOf" srcId="{AE8EF10D-69F7-4C67-924C-113C80D531EA}" destId="{3AE2B235-CB71-4589-A6AA-7BAF7B562DBC}" srcOrd="0" destOrd="0" presId="urn:microsoft.com/office/officeart/2005/8/layout/hierarchy1"/>
    <dgm:cxn modelId="{C7596DB2-E2EA-4B9F-968E-389E0682AB9B}" type="presParOf" srcId="{3AE2B235-CB71-4589-A6AA-7BAF7B562DBC}" destId="{B343EC87-5E92-4E81-8781-E5061BCB2419}" srcOrd="0" destOrd="0" presId="urn:microsoft.com/office/officeart/2005/8/layout/hierarchy1"/>
    <dgm:cxn modelId="{08D920E0-D2DA-44D3-B49D-98EBD41D4501}" type="presParOf" srcId="{3AE2B235-CB71-4589-A6AA-7BAF7B562DBC}" destId="{CB62E564-69A8-4BE4-94D8-C45B1AEB1322}" srcOrd="1" destOrd="0" presId="urn:microsoft.com/office/officeart/2005/8/layout/hierarchy1"/>
    <dgm:cxn modelId="{FFC13F6F-9805-43FD-A64A-0F151878C3F8}" type="presParOf" srcId="{AE8EF10D-69F7-4C67-924C-113C80D531EA}" destId="{BDD54689-4065-480C-BD48-4B18C34F9C28}" srcOrd="1" destOrd="0" presId="urn:microsoft.com/office/officeart/2005/8/layout/hierarchy1"/>
    <dgm:cxn modelId="{E194018B-FAF7-43D9-A1E5-B3CF7A306AA7}" type="presParOf" srcId="{E9703074-2310-4B2C-AF33-6857667E238A}" destId="{B8B9279A-478F-4365-894B-E6BBEA0780B6}" srcOrd="2" destOrd="0" presId="urn:microsoft.com/office/officeart/2005/8/layout/hierarchy1"/>
    <dgm:cxn modelId="{FF3C90A0-5453-44F3-933E-299646308663}" type="presParOf" srcId="{E9703074-2310-4B2C-AF33-6857667E238A}" destId="{AB5EA033-AB23-450B-AE66-29E5AD8C8AC6}" srcOrd="3" destOrd="0" presId="urn:microsoft.com/office/officeart/2005/8/layout/hierarchy1"/>
    <dgm:cxn modelId="{8577FC50-AFD0-4DDC-BBD6-ADEDA23BF317}" type="presParOf" srcId="{AB5EA033-AB23-450B-AE66-29E5AD8C8AC6}" destId="{6D87F914-823A-467E-B8DC-EA8FD2051AC3}" srcOrd="0" destOrd="0" presId="urn:microsoft.com/office/officeart/2005/8/layout/hierarchy1"/>
    <dgm:cxn modelId="{EB075EB8-8DD5-47EA-9740-B328BA2591FA}" type="presParOf" srcId="{6D87F914-823A-467E-B8DC-EA8FD2051AC3}" destId="{4544CB6B-D5A8-4463-801D-B4AC4755A7EC}" srcOrd="0" destOrd="0" presId="urn:microsoft.com/office/officeart/2005/8/layout/hierarchy1"/>
    <dgm:cxn modelId="{417E78C9-F65C-4AB5-B5AE-D426A571FC1C}" type="presParOf" srcId="{6D87F914-823A-467E-B8DC-EA8FD2051AC3}" destId="{82A16FB3-AB73-46F1-9F8A-5BD7A307C640}" srcOrd="1" destOrd="0" presId="urn:microsoft.com/office/officeart/2005/8/layout/hierarchy1"/>
    <dgm:cxn modelId="{B12E1275-94D7-474E-BBA9-BD44151CAE80}" type="presParOf" srcId="{AB5EA033-AB23-450B-AE66-29E5AD8C8AC6}" destId="{D38A77AC-6FB2-4767-A731-0784E9B0E65C}" srcOrd="1" destOrd="0" presId="urn:microsoft.com/office/officeart/2005/8/layout/hierarchy1"/>
    <dgm:cxn modelId="{2B32AD6E-DDA0-478E-8B8C-96FD1A52E54E}" type="presParOf" srcId="{E9703074-2310-4B2C-AF33-6857667E238A}" destId="{316E9E76-5B3C-4CE4-9F86-FEB85CAA98E6}" srcOrd="4" destOrd="0" presId="urn:microsoft.com/office/officeart/2005/8/layout/hierarchy1"/>
    <dgm:cxn modelId="{F559A4D0-E5F5-49E2-B2C8-287E78CBC803}" type="presParOf" srcId="{E9703074-2310-4B2C-AF33-6857667E238A}" destId="{C738DCA0-9E91-4F48-A8AC-58B21A82CB0E}" srcOrd="5" destOrd="0" presId="urn:microsoft.com/office/officeart/2005/8/layout/hierarchy1"/>
    <dgm:cxn modelId="{C9E6F38D-4128-40CE-9DB3-A375E38D30B1}" type="presParOf" srcId="{C738DCA0-9E91-4F48-A8AC-58B21A82CB0E}" destId="{6707F0B4-330A-424B-8D45-0AE042F0293B}" srcOrd="0" destOrd="0" presId="urn:microsoft.com/office/officeart/2005/8/layout/hierarchy1"/>
    <dgm:cxn modelId="{1D1CEBAB-C46D-4727-9B64-358A2C686A73}" type="presParOf" srcId="{6707F0B4-330A-424B-8D45-0AE042F0293B}" destId="{CB410770-30A2-405A-80CD-1F18AD0F5ABC}" srcOrd="0" destOrd="0" presId="urn:microsoft.com/office/officeart/2005/8/layout/hierarchy1"/>
    <dgm:cxn modelId="{11B72414-1003-4AE5-B860-93FBC2A7304E}" type="presParOf" srcId="{6707F0B4-330A-424B-8D45-0AE042F0293B}" destId="{75E6BFB1-7809-4B95-AD17-F7B580CE29C7}" srcOrd="1" destOrd="0" presId="urn:microsoft.com/office/officeart/2005/8/layout/hierarchy1"/>
    <dgm:cxn modelId="{0ABBBA33-8739-4E97-9A10-38916B93B12C}" type="presParOf" srcId="{C738DCA0-9E91-4F48-A8AC-58B21A82CB0E}" destId="{DFFD62B4-2B3D-449C-A9A6-C4A7245DAE8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6E9E76-5B3C-4CE4-9F86-FEB85CAA98E6}">
      <dsp:nvSpPr>
        <dsp:cNvPr id="0" name=""/>
        <dsp:cNvSpPr/>
      </dsp:nvSpPr>
      <dsp:spPr>
        <a:xfrm>
          <a:off x="5213369" y="2178970"/>
          <a:ext cx="3699810" cy="8803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957"/>
              </a:lnTo>
              <a:lnTo>
                <a:pt x="3699810" y="599957"/>
              </a:lnTo>
              <a:lnTo>
                <a:pt x="3699810" y="880386"/>
              </a:lnTo>
            </a:path>
          </a:pathLst>
        </a:custGeom>
        <a:noFill/>
        <a:ln w="95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B9279A-478F-4365-894B-E6BBEA0780B6}">
      <dsp:nvSpPr>
        <dsp:cNvPr id="0" name=""/>
        <dsp:cNvSpPr/>
      </dsp:nvSpPr>
      <dsp:spPr>
        <a:xfrm>
          <a:off x="5167649" y="2178970"/>
          <a:ext cx="91440" cy="8803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80386"/>
              </a:lnTo>
            </a:path>
          </a:pathLst>
        </a:custGeom>
        <a:noFill/>
        <a:ln w="95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41A869-9F33-4AB2-A6A4-DFBC08015522}">
      <dsp:nvSpPr>
        <dsp:cNvPr id="0" name=""/>
        <dsp:cNvSpPr/>
      </dsp:nvSpPr>
      <dsp:spPr>
        <a:xfrm>
          <a:off x="1513558" y="2178970"/>
          <a:ext cx="3699810" cy="880386"/>
        </a:xfrm>
        <a:custGeom>
          <a:avLst/>
          <a:gdLst/>
          <a:ahLst/>
          <a:cxnLst/>
          <a:rect l="0" t="0" r="0" b="0"/>
          <a:pathLst>
            <a:path>
              <a:moveTo>
                <a:pt x="3699810" y="0"/>
              </a:moveTo>
              <a:lnTo>
                <a:pt x="3699810" y="599957"/>
              </a:lnTo>
              <a:lnTo>
                <a:pt x="0" y="599957"/>
              </a:lnTo>
              <a:lnTo>
                <a:pt x="0" y="880386"/>
              </a:lnTo>
            </a:path>
          </a:pathLst>
        </a:custGeom>
        <a:noFill/>
        <a:ln w="95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B07C74-6FA1-405B-8562-48524A73C6DB}">
      <dsp:nvSpPr>
        <dsp:cNvPr id="0" name=""/>
        <dsp:cNvSpPr/>
      </dsp:nvSpPr>
      <dsp:spPr>
        <a:xfrm>
          <a:off x="3699810" y="256750"/>
          <a:ext cx="3027117" cy="1922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81A5706-F50B-43A6-ACEB-B5B93979464E}">
      <dsp:nvSpPr>
        <dsp:cNvPr id="0" name=""/>
        <dsp:cNvSpPr/>
      </dsp:nvSpPr>
      <dsp:spPr>
        <a:xfrm>
          <a:off x="4036156" y="576279"/>
          <a:ext cx="3027117" cy="1922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The Cleanup: </a:t>
          </a:r>
          <a:r>
            <a:rPr lang="en-IN" sz="1600" kern="1200" dirty="0"/>
            <a:t>We moved from raw CSV exports to a structured format, handling variations in date formats, unit prices and ensuring every "Order ID" was unique and accounted for.</a:t>
          </a:r>
          <a:endParaRPr lang="en-US" sz="1600" kern="1200" dirty="0"/>
        </a:p>
      </dsp:txBody>
      <dsp:txXfrm>
        <a:off x="4092456" y="632579"/>
        <a:ext cx="2914517" cy="1809619"/>
      </dsp:txXfrm>
    </dsp:sp>
    <dsp:sp modelId="{B343EC87-5E92-4E81-8781-E5061BCB2419}">
      <dsp:nvSpPr>
        <dsp:cNvPr id="0" name=""/>
        <dsp:cNvSpPr/>
      </dsp:nvSpPr>
      <dsp:spPr>
        <a:xfrm>
          <a:off x="0" y="3059357"/>
          <a:ext cx="3027117" cy="1922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62E564-69A8-4BE4-94D8-C45B1AEB1322}">
      <dsp:nvSpPr>
        <dsp:cNvPr id="0" name=""/>
        <dsp:cNvSpPr/>
      </dsp:nvSpPr>
      <dsp:spPr>
        <a:xfrm>
          <a:off x="336346" y="3378886"/>
          <a:ext cx="3027117" cy="1922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Unit price converted to </a:t>
          </a:r>
          <a:r>
            <a:rPr lang="en-IN" sz="1600" b="1" kern="1200"/>
            <a:t>Currency Format  </a:t>
          </a:r>
          <a:endParaRPr lang="en-US" sz="1600" kern="1200"/>
        </a:p>
      </dsp:txBody>
      <dsp:txXfrm>
        <a:off x="392646" y="3435186"/>
        <a:ext cx="2914517" cy="1809619"/>
      </dsp:txXfrm>
    </dsp:sp>
    <dsp:sp modelId="{4544CB6B-D5A8-4463-801D-B4AC4755A7EC}">
      <dsp:nvSpPr>
        <dsp:cNvPr id="0" name=""/>
        <dsp:cNvSpPr/>
      </dsp:nvSpPr>
      <dsp:spPr>
        <a:xfrm>
          <a:off x="3699810" y="3059357"/>
          <a:ext cx="3027117" cy="1922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A16FB3-AB73-46F1-9F8A-5BD7A307C640}">
      <dsp:nvSpPr>
        <dsp:cNvPr id="0" name=""/>
        <dsp:cNvSpPr/>
      </dsp:nvSpPr>
      <dsp:spPr>
        <a:xfrm>
          <a:off x="4036156" y="3378886"/>
          <a:ext cx="3027117" cy="1922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Table Creation </a:t>
          </a:r>
          <a:r>
            <a:rPr lang="en-IN" sz="1600" kern="1200"/>
            <a:t>for weaving in a structured look</a:t>
          </a:r>
          <a:endParaRPr lang="en-US" sz="1600" kern="1200"/>
        </a:p>
      </dsp:txBody>
      <dsp:txXfrm>
        <a:off x="4092456" y="3435186"/>
        <a:ext cx="2914517" cy="1809619"/>
      </dsp:txXfrm>
    </dsp:sp>
    <dsp:sp modelId="{CB410770-30A2-405A-80CD-1F18AD0F5ABC}">
      <dsp:nvSpPr>
        <dsp:cNvPr id="0" name=""/>
        <dsp:cNvSpPr/>
      </dsp:nvSpPr>
      <dsp:spPr>
        <a:xfrm>
          <a:off x="7399620" y="3059357"/>
          <a:ext cx="3027117" cy="19222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E6BFB1-7809-4B95-AD17-F7B580CE29C7}">
      <dsp:nvSpPr>
        <dsp:cNvPr id="0" name=""/>
        <dsp:cNvSpPr/>
      </dsp:nvSpPr>
      <dsp:spPr>
        <a:xfrm>
          <a:off x="7735967" y="3378886"/>
          <a:ext cx="3027117" cy="19222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Applied </a:t>
          </a:r>
          <a:r>
            <a:rPr lang="en-IN" sz="1600" b="1" kern="1200"/>
            <a:t>Format</a:t>
          </a:r>
          <a:r>
            <a:rPr lang="en-IN" sz="1600" kern="1200"/>
            <a:t> to the table to </a:t>
          </a:r>
          <a:r>
            <a:rPr lang="en-IN" sz="1600" b="1" kern="1200"/>
            <a:t>Auto Fit Column Width</a:t>
          </a:r>
          <a:endParaRPr lang="en-US" sz="1600" kern="1200"/>
        </a:p>
      </dsp:txBody>
      <dsp:txXfrm>
        <a:off x="7792267" y="3435186"/>
        <a:ext cx="2914517" cy="1809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550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12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752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34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5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23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0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011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25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5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377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05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1468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621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209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29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242EC-CEA3-4392-9BB0-77BD335FEAC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DA77631-CC87-4550-A7FA-53B134C8CC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9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Macro-Enabled_Worksheet.xlsm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freepngimg.com/png/18342-success-free-download-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73513" y="0"/>
            <a:ext cx="5613431" cy="6853245"/>
            <a:chOff x="2487613" y="285750"/>
            <a:chExt cx="2428876" cy="5654676"/>
          </a:xfrm>
          <a:solidFill>
            <a:schemeClr val="accent1"/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4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94812-589B-08B5-3630-8AAA2DC3B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15" y="1318591"/>
            <a:ext cx="5102159" cy="4220820"/>
          </a:xfrm>
        </p:spPr>
        <p:txBody>
          <a:bodyPr anchor="ctr"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Aptos" panose="020B0004020202020204" pitchFamily="34" charset="0"/>
              </a:rPr>
              <a:t>2024 Sales &amp; Profitability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82D7D-F352-2180-1230-3A9972A0B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2032" y="804334"/>
            <a:ext cx="3675634" cy="5249332"/>
          </a:xfrm>
        </p:spPr>
        <p:txBody>
          <a:bodyPr anchor="ctr">
            <a:normAutofit/>
          </a:bodyPr>
          <a:lstStyle/>
          <a:p>
            <a:r>
              <a:rPr lang="en-US" sz="6000" b="1" dirty="0">
                <a:solidFill>
                  <a:srgbClr val="7030A0"/>
                </a:solidFill>
                <a:highlight>
                  <a:srgbClr val="FFFF00"/>
                </a:highlight>
                <a:latin typeface="Baskerville Old Face" panose="02020602080505020303" pitchFamily="18" charset="0"/>
              </a:rPr>
              <a:t>Excel Data Adventures</a:t>
            </a:r>
            <a:endParaRPr lang="en-IN" sz="6000" b="1" dirty="0">
              <a:solidFill>
                <a:srgbClr val="7030A0"/>
              </a:solidFill>
              <a:highlight>
                <a:srgbClr val="FFFF00"/>
              </a:highlight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69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4E9F44E-02E7-4A97-B7DB-1DB0F1F4E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7" name="Freeform 11">
              <a:extLst>
                <a:ext uri="{FF2B5EF4-FFF2-40B4-BE49-F238E27FC236}">
                  <a16:creationId xmlns:a16="http://schemas.microsoft.com/office/drawing/2014/main" id="{154F2546-BFC4-4B9A-B22A-40C22269F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8" name="Freeform 12">
              <a:extLst>
                <a:ext uri="{FF2B5EF4-FFF2-40B4-BE49-F238E27FC236}">
                  <a16:creationId xmlns:a16="http://schemas.microsoft.com/office/drawing/2014/main" id="{4BB2355B-3CC7-4F78-AEE5-42361DBF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Freeform 13">
              <a:extLst>
                <a:ext uri="{FF2B5EF4-FFF2-40B4-BE49-F238E27FC236}">
                  <a16:creationId xmlns:a16="http://schemas.microsoft.com/office/drawing/2014/main" id="{031B8A19-2FD3-4302-91CF-C8B6F93B3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0" name="Freeform 14">
              <a:extLst>
                <a:ext uri="{FF2B5EF4-FFF2-40B4-BE49-F238E27FC236}">
                  <a16:creationId xmlns:a16="http://schemas.microsoft.com/office/drawing/2014/main" id="{73162A24-700C-424E-96EC-86CB156D05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1" name="Freeform 15">
              <a:extLst>
                <a:ext uri="{FF2B5EF4-FFF2-40B4-BE49-F238E27FC236}">
                  <a16:creationId xmlns:a16="http://schemas.microsoft.com/office/drawing/2014/main" id="{1F0C1D92-E435-4491-B392-AB951E055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0212CAD4-9EC5-41A6-B23D-EBA0527104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3" name="Freeform 17">
              <a:extLst>
                <a:ext uri="{FF2B5EF4-FFF2-40B4-BE49-F238E27FC236}">
                  <a16:creationId xmlns:a16="http://schemas.microsoft.com/office/drawing/2014/main" id="{6EFDEEEF-07D4-42EA-BAF2-B6FB6442D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4" name="Freeform 18">
              <a:extLst>
                <a:ext uri="{FF2B5EF4-FFF2-40B4-BE49-F238E27FC236}">
                  <a16:creationId xmlns:a16="http://schemas.microsoft.com/office/drawing/2014/main" id="{2F4FA7A2-4814-4283-AED6-51BE57860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Freeform 19">
              <a:extLst>
                <a:ext uri="{FF2B5EF4-FFF2-40B4-BE49-F238E27FC236}">
                  <a16:creationId xmlns:a16="http://schemas.microsoft.com/office/drawing/2014/main" id="{3A80AF23-BF8E-4209-B9DE-1D2A637B4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6" name="Freeform 20">
              <a:extLst>
                <a:ext uri="{FF2B5EF4-FFF2-40B4-BE49-F238E27FC236}">
                  <a16:creationId xmlns:a16="http://schemas.microsoft.com/office/drawing/2014/main" id="{19128847-0CCA-451D-A00A-2855A4D6D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7" name="Freeform 21">
              <a:extLst>
                <a:ext uri="{FF2B5EF4-FFF2-40B4-BE49-F238E27FC236}">
                  <a16:creationId xmlns:a16="http://schemas.microsoft.com/office/drawing/2014/main" id="{5007ABF4-C6D7-4D5A-B621-E22A6CDE2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Freeform 22">
              <a:extLst>
                <a:ext uri="{FF2B5EF4-FFF2-40B4-BE49-F238E27FC236}">
                  <a16:creationId xmlns:a16="http://schemas.microsoft.com/office/drawing/2014/main" id="{C626D9E0-6E9C-49D1-9350-E85A88DD3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F22DE9C-F188-48E2-A82C-4434A8EEE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140" name="Freeform 27">
              <a:extLst>
                <a:ext uri="{FF2B5EF4-FFF2-40B4-BE49-F238E27FC236}">
                  <a16:creationId xmlns:a16="http://schemas.microsoft.com/office/drawing/2014/main" id="{02013AA2-1F55-4C5D-AA37-2F66C2056B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1" name="Freeform 28">
              <a:extLst>
                <a:ext uri="{FF2B5EF4-FFF2-40B4-BE49-F238E27FC236}">
                  <a16:creationId xmlns:a16="http://schemas.microsoft.com/office/drawing/2014/main" id="{1FB61D00-6151-464C-A1C0-2F19F6413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Freeform 29">
              <a:extLst>
                <a:ext uri="{FF2B5EF4-FFF2-40B4-BE49-F238E27FC236}">
                  <a16:creationId xmlns:a16="http://schemas.microsoft.com/office/drawing/2014/main" id="{A5ED6B64-D948-4BCE-9D88-5BB2FDD8F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3" name="Freeform 30">
              <a:extLst>
                <a:ext uri="{FF2B5EF4-FFF2-40B4-BE49-F238E27FC236}">
                  <a16:creationId xmlns:a16="http://schemas.microsoft.com/office/drawing/2014/main" id="{F89D4BEB-9156-4620-A774-3B780CC75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4" name="Freeform 31">
              <a:extLst>
                <a:ext uri="{FF2B5EF4-FFF2-40B4-BE49-F238E27FC236}">
                  <a16:creationId xmlns:a16="http://schemas.microsoft.com/office/drawing/2014/main" id="{B4A8D726-AC9C-413C-BA61-279C42A85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5" name="Freeform 32">
              <a:extLst>
                <a:ext uri="{FF2B5EF4-FFF2-40B4-BE49-F238E27FC236}">
                  <a16:creationId xmlns:a16="http://schemas.microsoft.com/office/drawing/2014/main" id="{F17D811C-C413-4847-8A99-0C428A58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6" name="Freeform 33">
              <a:extLst>
                <a:ext uri="{FF2B5EF4-FFF2-40B4-BE49-F238E27FC236}">
                  <a16:creationId xmlns:a16="http://schemas.microsoft.com/office/drawing/2014/main" id="{75BC74C6-A8D3-43B7-88D6-D36F1C038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7" name="Freeform 34">
              <a:extLst>
                <a:ext uri="{FF2B5EF4-FFF2-40B4-BE49-F238E27FC236}">
                  <a16:creationId xmlns:a16="http://schemas.microsoft.com/office/drawing/2014/main" id="{57EEDAFB-AA1B-4B29-B0D8-E3F097A30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8" name="Freeform 35">
              <a:extLst>
                <a:ext uri="{FF2B5EF4-FFF2-40B4-BE49-F238E27FC236}">
                  <a16:creationId xmlns:a16="http://schemas.microsoft.com/office/drawing/2014/main" id="{2037E8F3-503E-4F56-81D4-C0058A855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9" name="Freeform 36">
              <a:extLst>
                <a:ext uri="{FF2B5EF4-FFF2-40B4-BE49-F238E27FC236}">
                  <a16:creationId xmlns:a16="http://schemas.microsoft.com/office/drawing/2014/main" id="{B3B14D57-F75A-402A-B35D-98E84AD68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0" name="Freeform 37">
              <a:extLst>
                <a:ext uri="{FF2B5EF4-FFF2-40B4-BE49-F238E27FC236}">
                  <a16:creationId xmlns:a16="http://schemas.microsoft.com/office/drawing/2014/main" id="{4AFB6E2F-5AF1-4DB0-851C-8F7492A9E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1" name="Freeform 38">
              <a:extLst>
                <a:ext uri="{FF2B5EF4-FFF2-40B4-BE49-F238E27FC236}">
                  <a16:creationId xmlns:a16="http://schemas.microsoft.com/office/drawing/2014/main" id="{6725B281-5E62-47B4-873A-9B126142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A10670B-6568-4038-91D8-392C78C0C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3" name="Freeform 11">
            <a:extLst>
              <a:ext uri="{FF2B5EF4-FFF2-40B4-BE49-F238E27FC236}">
                <a16:creationId xmlns:a16="http://schemas.microsoft.com/office/drawing/2014/main" id="{179DBEAA-367B-4941-8368-15EBD551F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95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6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7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8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0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1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2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3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4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5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6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7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7560245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5155A0-BCD1-9B78-667B-F0AC85C1B89C}"/>
              </a:ext>
            </a:extLst>
          </p:cNvPr>
          <p:cNvSpPr txBox="1"/>
          <p:nvPr/>
        </p:nvSpPr>
        <p:spPr>
          <a:xfrm>
            <a:off x="637310" y="1286934"/>
            <a:ext cx="5292436" cy="4284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3200" b="1" i="1" dirty="0">
                <a:solidFill>
                  <a:schemeClr val="tx2"/>
                </a:solidFill>
              </a:rPr>
              <a:t>Every great insight starts with a bit of a mess. This project involved three key "Adventures" in data processing: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b="1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931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5C624B6-8015-4ADC-901F-019368E84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26A2E7E0-2843-46B8-93BE-1550A021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C3DFCF24-8DB5-4AE5-835B-BB70A1E32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3FB42478-59FA-4431-9B53-77F5C49C9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32CD15BE-F5F1-457C-A6D8-FD8E2DB04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B1E7B2B0-B0C3-4108-8719-7FF23E012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64C23534-7391-4D96-850B-D313FFDE0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87C0B909-7094-43DE-B429-83F84713B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8A38F05B-4643-448F-B81B-943E0D7A8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A018DEBF-5D49-4F03-95F7-87F9140D3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2B69596C-3B0A-453A-B995-237D38EF4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2FEAB0CC-A995-4828-BD44-A4C92BF92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D1188175-70FF-4B3F-A72C-F8344F937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CD96805-F42E-43A2-8B19-4B4B4B687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42A8F4BD-2C91-4AF2-9B89-CCD705322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CAF0E8F1-102B-4CED-8682-C40775A07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B7E98A2C-C27C-4D3E-9C8E-A8DFFB96B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AC5F5B21-8161-4AF0-AFC6-8C0BB900F0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444CB1B2-C390-427E-918E-5DDA48D5F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9DB47AFF-0B7D-4B02-964B-D591DEBCF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AC2036E8-8248-42AF-BC81-7C345B9EF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6EAC27B8-BE4A-452F-961E-AA3C936388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B983A26D-CABB-4FAC-B9F3-CE49FBE1F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3D0C2F7F-F20C-4B90-9316-8F57AF20E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8136D227-371A-489A-87B5-CA4CC60868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8FF14CE4-AEE0-43E1-B363-024A64C47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C51DF5C-9611-4217-9C87-B1BA1BFAB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2" name="Freeform 11">
            <a:extLst>
              <a:ext uri="{FF2B5EF4-FFF2-40B4-BE49-F238E27FC236}">
                <a16:creationId xmlns:a16="http://schemas.microsoft.com/office/drawing/2014/main" id="{F1E5C2E7-30C4-47BD-A0C7-169C7A5F2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5" name="TextBox 1">
            <a:extLst>
              <a:ext uri="{FF2B5EF4-FFF2-40B4-BE49-F238E27FC236}">
                <a16:creationId xmlns:a16="http://schemas.microsoft.com/office/drawing/2014/main" id="{90649B64-0D31-A111-BF34-0492E3245C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9587239"/>
              </p:ext>
            </p:extLst>
          </p:nvPr>
        </p:nvGraphicFramePr>
        <p:xfrm>
          <a:off x="961011" y="714373"/>
          <a:ext cx="10763085" cy="5557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2625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664D6319-AE80-458F-A2C6-1F035126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Calculator, pen, compass, money and a paper with graphs printed on it">
            <a:extLst>
              <a:ext uri="{FF2B5EF4-FFF2-40B4-BE49-F238E27FC236}">
                <a16:creationId xmlns:a16="http://schemas.microsoft.com/office/drawing/2014/main" id="{01ABC9A2-0BC5-6114-A933-2CB46D93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39" r="14616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44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5DC73-F9E5-EE52-4ADC-B88C03E09C05}"/>
              </a:ext>
            </a:extLst>
          </p:cNvPr>
          <p:cNvSpPr txBox="1"/>
          <p:nvPr/>
        </p:nvSpPr>
        <p:spPr>
          <a:xfrm>
            <a:off x="5839064" y="873930"/>
            <a:ext cx="6224328" cy="3857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400" b="1" dirty="0">
                <a:solidFill>
                  <a:schemeClr val="bg1"/>
                </a:solidFill>
                <a:highlight>
                  <a:srgbClr val="008080"/>
                </a:highlight>
              </a:rPr>
              <a:t>Derived the Total Revenue, Total Cost, Gross Profit, Profit Margin and Month Name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Total Revenue = Units Sold * Units Price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Total Cost = Units Sold *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CoGS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Gross Profit = Total Revenue – Total Cost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Profit Margin = Gross Profit / Total Revenue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Expressed the Profit Margin as a Percentage</a:t>
            </a:r>
          </a:p>
        </p:txBody>
      </p:sp>
    </p:spTree>
    <p:extLst>
      <p:ext uri="{BB962C8B-B14F-4D97-AF65-F5344CB8AC3E}">
        <p14:creationId xmlns:p14="http://schemas.microsoft.com/office/powerpoint/2010/main" val="371879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103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5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6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8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9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8" name="Freeform 11">
            <a:extLst>
              <a:ext uri="{FF2B5EF4-FFF2-40B4-BE49-F238E27FC236}">
                <a16:creationId xmlns:a16="http://schemas.microsoft.com/office/drawing/2014/main" id="{664D6319-AE80-458F-A2C6-1F035126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3FEBD-8EF9-BCCE-B77A-EDA602B5F8BE}"/>
              </a:ext>
            </a:extLst>
          </p:cNvPr>
          <p:cNvSpPr txBox="1"/>
          <p:nvPr/>
        </p:nvSpPr>
        <p:spPr>
          <a:xfrm>
            <a:off x="1683956" y="2011680"/>
            <a:ext cx="4140772" cy="3899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3600" b="1" dirty="0">
                <a:solidFill>
                  <a:srgbClr val="000000"/>
                </a:solidFill>
                <a:highlight>
                  <a:srgbClr val="00FFFF"/>
                </a:highlight>
              </a:rPr>
              <a:t>Tools of the Trade</a:t>
            </a:r>
          </a:p>
          <a:p>
            <a:pPr algn="ctr">
              <a:spcBef>
                <a:spcPts val="1000"/>
              </a:spcBef>
              <a:buClr>
                <a:schemeClr val="accent1"/>
              </a:buClr>
            </a:pPr>
            <a:endParaRPr lang="en-US" sz="3600" b="1" dirty="0">
              <a:solidFill>
                <a:srgbClr val="000000"/>
              </a:solidFill>
              <a:highlight>
                <a:srgbClr val="00FFFF"/>
              </a:highlight>
            </a:endParaRPr>
          </a:p>
          <a:p>
            <a:pPr algn="ctr">
              <a:spcBef>
                <a:spcPts val="1000"/>
              </a:spcBef>
              <a:buClr>
                <a:schemeClr val="accent1"/>
              </a:buClr>
            </a:pPr>
            <a:r>
              <a:rPr lang="en-US" sz="3600" dirty="0">
                <a:solidFill>
                  <a:srgbClr val="000000"/>
                </a:solidFill>
                <a:highlight>
                  <a:srgbClr val="00FFFF"/>
                </a:highlight>
                <a:latin typeface="Algerian" panose="04020705040A02060702" pitchFamily="82" charset="0"/>
              </a:rPr>
              <a:t>How We Conquered the Data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 descr="Work tools and supplies">
            <a:extLst>
              <a:ext uri="{FF2B5EF4-FFF2-40B4-BE49-F238E27FC236}">
                <a16:creationId xmlns:a16="http://schemas.microsoft.com/office/drawing/2014/main" id="{1D798892-DBB6-8A25-2DCD-42B10F207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30" r="18525" b="-2"/>
          <a:stretch>
            <a:fillRect/>
          </a:stretch>
        </p:blipFill>
        <p:spPr>
          <a:xfrm>
            <a:off x="6091916" y="645106"/>
            <a:ext cx="545162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9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65B4C9-6C0B-F643-6B94-1230105D3815}"/>
              </a:ext>
            </a:extLst>
          </p:cNvPr>
          <p:cNvSpPr txBox="1"/>
          <p:nvPr/>
        </p:nvSpPr>
        <p:spPr>
          <a:xfrm>
            <a:off x="1534886" y="636814"/>
            <a:ext cx="7984671" cy="5944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rgbClr val="E2E73F"/>
              </a:buClr>
              <a:buFont typeface="Wingdings 3" charset="2"/>
              <a:buChar char=""/>
            </a:pP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Amasis MT Pro Black" panose="02040A04050005020304" pitchFamily="18" charset="0"/>
              </a:rPr>
              <a:t>To navigate this Excel Adventure, we utilized a specific toolkit: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E2E73F"/>
              </a:buClr>
              <a:buFont typeface="Wingdings 3" charset="2"/>
              <a:buChar char=""/>
            </a:pP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00FFFF"/>
              </a:highlight>
              <a:latin typeface="Amasis MT Pro Black" panose="02040A04050005020304" pitchFamily="18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rgbClr val="E2E73F"/>
              </a:buClr>
              <a:buFont typeface="Wingdings 3" charset="2"/>
              <a:buChar char=""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Amasis MT Pro Medium" panose="02040604050005020304" pitchFamily="18" charset="0"/>
              </a:rPr>
              <a:t>Pivot Tables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Amasis MT Pro Medium" panose="02040604050005020304" pitchFamily="18" charset="0"/>
              </a:rPr>
              <a:t>:</a:t>
            </a:r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00FFFF"/>
                </a:highlight>
                <a:latin typeface="Amasis MT Pro Medium" panose="02040604050005020304" pitchFamily="18" charset="0"/>
              </a:rPr>
              <a:t> To instantly aggregate total profit across Audio, Home, and Wearable categories.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91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664D6319-AE80-458F-A2C6-1F0351266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Close-up of red flower">
            <a:extLst>
              <a:ext uri="{FF2B5EF4-FFF2-40B4-BE49-F238E27FC236}">
                <a16:creationId xmlns:a16="http://schemas.microsoft.com/office/drawing/2014/main" id="{B18ECC7C-D73F-32FF-29C4-8DD3A323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19" r="13957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4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AAB9D2-147C-2AAA-D73B-E3425FABD0A6}"/>
              </a:ext>
            </a:extLst>
          </p:cNvPr>
          <p:cNvSpPr txBox="1"/>
          <p:nvPr/>
        </p:nvSpPr>
        <p:spPr>
          <a:xfrm>
            <a:off x="7860770" y="2017668"/>
            <a:ext cx="3750205" cy="38578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Conditional Formatting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: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00FFFF"/>
                </a:highlight>
              </a:rPr>
              <a:t> To highlight the "Red Zones" in the South and West regions where margins dipped below 60%.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3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27737A0-D7E0-4415-8E90-FD4F69E7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506CE375-B39D-4C51-A858-F4A383311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64EA8B46-395C-41F6-BE09-548B108098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BC7EDC6D-8B00-48D9-B8FD-9B5285FBCE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DE4BD3C3-5C1B-4305-BFA1-9054820B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4635ED79-E821-4CFD-9F97-D6137E5DCA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92FD5F9A-0D1B-4304-AC95-EA6A4E70E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E9BB96F9-6F99-413C-909E-6FCF017C1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1CCAEE3F-DFD6-4F56-91DF-94C715261B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A9965128-6557-433B-B75B-BDF307311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6ACA7D22-11B5-4768-B195-51BF6E7C1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0AD997-8BE7-4F95-8B7C-4E59DA1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DE270B5A-1647-4C9C-BA5F-6BC559F869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7D8AB18-1DD7-4D60-B9FA-190B47BB2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AE3C8994-22F6-4B7D-B50B-80ECD1E2A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DDCDE2FF-5BFC-4807-AB1E-D6928F8F4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63EF93F1-6EAF-4409-A623-76533740E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D3B5256-3F5C-4FDE-8A9A-5A124E92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ED5D4282-BFB9-4BFC-A20D-18E1C4EEA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3E6394EB-0752-433A-BA70-AF42B45F1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DF27BE5F-DA8D-4260-9D0D-69E9CE146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9A6E5CBE-AE54-40B7-9A00-E3975FEAC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6C307890-5461-4D51-ADA6-A3DA6D35B8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3F9B7E4B-6412-4B97-AD48-30B1F61F3B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D345D359-869B-4305-B7D7-0B5C4FDEC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F688B27-AEB8-45BD-9597-78A97EE0D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4EB21FA6-8B6A-4699-8408-91E699800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BA1AABB7-0FD0-4445-8B8B-7A0C680C5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8B04C4B-AC68-4DAC-B6E9-4BA106EEA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B8F510-7BD8-444A-82C8-5DA7E5E2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5C82EE-976C-322B-AE9F-482F33F3343E}"/>
              </a:ext>
            </a:extLst>
          </p:cNvPr>
          <p:cNvSpPr txBox="1"/>
          <p:nvPr/>
        </p:nvSpPr>
        <p:spPr>
          <a:xfrm>
            <a:off x="540279" y="967417"/>
            <a:ext cx="5280460" cy="3943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highlight>
                  <a:srgbClr val="FFFF00"/>
                </a:highlight>
                <a:latin typeface="+mj-lt"/>
                <a:ea typeface="+mj-ea"/>
                <a:cs typeface="+mj-cs"/>
              </a:rPr>
              <a:t>Data Modeling</a:t>
            </a:r>
            <a:r>
              <a:rPr lang="en-US" sz="4000" b="1" dirty="0">
                <a:highlight>
                  <a:srgbClr val="00FFFF"/>
                </a:highlight>
                <a:latin typeface="+mj-lt"/>
                <a:ea typeface="+mj-ea"/>
                <a:cs typeface="+mj-cs"/>
              </a:rPr>
              <a:t>:</a:t>
            </a:r>
            <a:r>
              <a:rPr lang="en-US" sz="4000" dirty="0">
                <a:highlight>
                  <a:srgbClr val="00FFFF"/>
                </a:highlight>
                <a:latin typeface="+mj-lt"/>
                <a:ea typeface="+mj-ea"/>
                <a:cs typeface="+mj-cs"/>
              </a:rPr>
              <a:t> Connecting unit prices and COGS to visualize the true health of the product line.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000" dirty="0">
              <a:solidFill>
                <a:srgbClr val="FE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CA744-CAD5-5A12-1B31-C18D1A318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50" r="22675"/>
          <a:stretch>
            <a:fillRect/>
          </a:stretch>
        </p:blipFill>
        <p:spPr>
          <a:xfrm>
            <a:off x="6111242" y="10"/>
            <a:ext cx="6080758" cy="6857990"/>
          </a:xfrm>
          <a:prstGeom prst="rect">
            <a:avLst/>
          </a:prstGeom>
        </p:spPr>
      </p:pic>
      <p:sp>
        <p:nvSpPr>
          <p:cNvPr id="44" name="Freeform 27">
            <a:extLst>
              <a:ext uri="{FF2B5EF4-FFF2-40B4-BE49-F238E27FC236}">
                <a16:creationId xmlns:a16="http://schemas.microsoft.com/office/drawing/2014/main" id="{760B9607-D73D-493B-848E-23B932717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3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CFF2A-98E8-4AB5-C219-D4DE10B1949E}"/>
              </a:ext>
            </a:extLst>
          </p:cNvPr>
          <p:cNvSpPr txBox="1"/>
          <p:nvPr/>
        </p:nvSpPr>
        <p:spPr>
          <a:xfrm>
            <a:off x="1910443" y="849086"/>
            <a:ext cx="9274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Recommendations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increasing marketing spend or R&amp;D for the “Wearables” segment to capitalize on its high profitability.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/>
              <a:t>Discuss strategies to bridge the gap between Audio and Wearables to create a more balanced profit distribution.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4011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601E0A4-4A67-426C-8A3A-B8DD4A9B8E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2679633"/>
              </p:ext>
            </p:extLst>
          </p:nvPr>
        </p:nvGraphicFramePr>
        <p:xfrm>
          <a:off x="7336971" y="31024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6028AD0-3F1C-F5E2-3B2F-8591B235E602}"/>
              </a:ext>
            </a:extLst>
          </p:cNvPr>
          <p:cNvSpPr txBox="1"/>
          <p:nvPr/>
        </p:nvSpPr>
        <p:spPr>
          <a:xfrm>
            <a:off x="1518557" y="335845"/>
            <a:ext cx="516527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bar chart, titled </a:t>
            </a:r>
            <a:r>
              <a:rPr lang="en-IN" b="1" dirty="0" err="1"/>
              <a:t>Regionwise</a:t>
            </a:r>
            <a:r>
              <a:rPr lang="en-IN" b="1" dirty="0"/>
              <a:t> Profitability Margin</a:t>
            </a:r>
            <a:r>
              <a:rPr lang="en-IN" dirty="0"/>
              <a:t>, reveals a significant geographical disparity in profit efficiency across four key regions.</a:t>
            </a:r>
          </a:p>
          <a:p>
            <a:endParaRPr lang="en-IN" dirty="0"/>
          </a:p>
          <a:p>
            <a:r>
              <a:rPr lang="en-IN" b="1" dirty="0"/>
              <a:t>Recommendations to Business Analysts</a:t>
            </a:r>
          </a:p>
          <a:p>
            <a:endParaRPr lang="en-IN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Determine if the 20% margin is due to high logistics costs, local tax structures, or increased </a:t>
            </a:r>
            <a:r>
              <a:rPr lang="en-IN" dirty="0" err="1"/>
              <a:t>labor</a:t>
            </a:r>
            <a:r>
              <a:rPr lang="en-IN" dirty="0"/>
              <a:t> expenses.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Identify Success Factors:</a:t>
            </a:r>
            <a:r>
              <a:rPr lang="en-IN" dirty="0"/>
              <a:t> Document the specific sales tactics, distribution channels, and product mixes used in the East (94%).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Pilot Program:</a:t>
            </a:r>
            <a:r>
              <a:rPr lang="en-IN" dirty="0"/>
              <a:t> Implement one "East Region" operational standard in the South region to see if the 56% margin can be shifted toward the 70% range.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/>
              <a:t>Profit-First Budgeting:</a:t>
            </a:r>
            <a:r>
              <a:rPr lang="en-IN" dirty="0"/>
              <a:t> Consider shifting incremental investment capital away from the West and toward the East/North to maximize immediate ROI.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2007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D68966-8C65-DF7E-9955-8C231694B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4680"/>
              </p:ext>
            </p:extLst>
          </p:nvPr>
        </p:nvGraphicFramePr>
        <p:xfrm>
          <a:off x="5061857" y="2554854"/>
          <a:ext cx="1491343" cy="1258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2" imgW="914580" imgH="771615" progId="Excel.SheetMacroEnabled.12">
                  <p:embed/>
                </p:oleObj>
              </mc:Choice>
              <mc:Fallback>
                <p:oleObj name="Macro-Enabled Worksheet" showAsIcon="1" r:id="rId2" imgW="914580" imgH="77161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61857" y="2554854"/>
                        <a:ext cx="1491343" cy="1258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8D23C4-804D-3C55-8699-F6AE6F71C7AA}"/>
              </a:ext>
            </a:extLst>
          </p:cNvPr>
          <p:cNvSpPr txBox="1"/>
          <p:nvPr/>
        </p:nvSpPr>
        <p:spPr>
          <a:xfrm>
            <a:off x="3412671" y="1338943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Click the below link</a:t>
            </a:r>
          </a:p>
        </p:txBody>
      </p:sp>
    </p:spTree>
    <p:extLst>
      <p:ext uri="{BB962C8B-B14F-4D97-AF65-F5344CB8AC3E}">
        <p14:creationId xmlns:p14="http://schemas.microsoft.com/office/powerpoint/2010/main" val="33090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FEBAC5-E4A4-CABF-812F-CE9FB5862193}"/>
              </a:ext>
            </a:extLst>
          </p:cNvPr>
          <p:cNvSpPr txBox="1"/>
          <p:nvPr/>
        </p:nvSpPr>
        <p:spPr>
          <a:xfrm>
            <a:off x="1230085" y="2122714"/>
            <a:ext cx="97318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"Our path to record-breaking fiscal performance lies in </a:t>
            </a:r>
            <a:r>
              <a:rPr lang="en-IN" sz="3200" b="1" dirty="0"/>
              <a:t>surgical resource allocation</a:t>
            </a:r>
            <a:r>
              <a:rPr lang="en-IN" sz="3200" dirty="0"/>
              <a:t>. By mirroring the operational excellence of the East across our Wearables and Audio lines, we can projected to increase overall net margin by an estimated 15-20% by year-end."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4B9A9-873B-DEEF-E964-73CA7656932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23468" y="3773977"/>
            <a:ext cx="5368532" cy="2545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6EE12C-FCDA-7001-1189-0BDBED6C8540}"/>
              </a:ext>
            </a:extLst>
          </p:cNvPr>
          <p:cNvSpPr txBox="1"/>
          <p:nvPr/>
        </p:nvSpPr>
        <p:spPr>
          <a:xfrm>
            <a:off x="8412480" y="6449017"/>
            <a:ext cx="377952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freepngimg.com/png/18342-success-free-download-pn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DCAAD-21A8-570B-EA50-9DE8986755D5}"/>
              </a:ext>
            </a:extLst>
          </p:cNvPr>
          <p:cNvSpPr txBox="1"/>
          <p:nvPr/>
        </p:nvSpPr>
        <p:spPr>
          <a:xfrm>
            <a:off x="2988129" y="930729"/>
            <a:ext cx="561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Final Note</a:t>
            </a:r>
          </a:p>
        </p:txBody>
      </p:sp>
    </p:spTree>
    <p:extLst>
      <p:ext uri="{BB962C8B-B14F-4D97-AF65-F5344CB8AC3E}">
        <p14:creationId xmlns:p14="http://schemas.microsoft.com/office/powerpoint/2010/main" val="7760329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</TotalTime>
  <Words>449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Algerian</vt:lpstr>
      <vt:lpstr>Amasis MT Pro Black</vt:lpstr>
      <vt:lpstr>Amasis MT Pro Medium</vt:lpstr>
      <vt:lpstr>Aptos</vt:lpstr>
      <vt:lpstr>Arial</vt:lpstr>
      <vt:lpstr>Baskerville Old Face</vt:lpstr>
      <vt:lpstr>Century Gothic</vt:lpstr>
      <vt:lpstr>Wingdings</vt:lpstr>
      <vt:lpstr>Wingdings 3</vt:lpstr>
      <vt:lpstr>Wisp</vt:lpstr>
      <vt:lpstr>Microsoft Excel Macro-Enabled Worksheet</vt:lpstr>
      <vt:lpstr>2024 Sales &amp; Profitability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19</cp:revision>
  <dcterms:created xsi:type="dcterms:W3CDTF">2026-03-03T04:39:03Z</dcterms:created>
  <dcterms:modified xsi:type="dcterms:W3CDTF">2026-03-05T04:57:11Z</dcterms:modified>
</cp:coreProperties>
</file>