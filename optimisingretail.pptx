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6450780-88F6-4394-AD89-FB6F39A3220B}">
          <p14:sldIdLst>
            <p14:sldId id="256"/>
          </p14:sldIdLst>
        </p14:section>
        <p14:section name="Untitled Section" id="{17E9C37C-3484-4317-A061-94747AD10E1B}">
          <p14:sldIdLst>
            <p14:sldId id="257"/>
            <p14:sldId id="258"/>
            <p14:sldId id="259"/>
            <p14:sldId id="260"/>
            <p14:sldId id="261"/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90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[Pheba Excel Work.xlsx]Pivot Table!PivotTable2</c:name>
    <c:fmtId val="12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995" b="1" i="0" u="none" strike="noStrike" kern="1200" cap="all" spc="100" normalizeH="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Customer Sales </a:t>
            </a:r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995" b="1" i="0" u="none" strike="noStrike" kern="1200" cap="all" spc="100" normalizeH="0" baseline="0">
              <a:solidFill>
                <a:schemeClr val="lt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rgbClr val="FF0000"/>
          </a:solidFill>
          <a:ln>
            <a:noFill/>
          </a:ln>
          <a:effectLst/>
          <a:sp3d/>
        </c:spPr>
        <c:marker>
          <c:symbol val="none"/>
        </c:marker>
      </c:pivotFmt>
      <c:pivotFmt>
        <c:idx val="1"/>
        <c:spPr>
          <a:solidFill>
            <a:srgbClr val="FF0000"/>
          </a:solidFill>
          <a:ln>
            <a:noFill/>
          </a:ln>
          <a:effectLst/>
          <a:sp3d/>
        </c:spPr>
        <c:marker>
          <c:symbol val="none"/>
        </c:marker>
      </c:pivotFmt>
      <c:pivotFmt>
        <c:idx val="2"/>
        <c:spPr>
          <a:solidFill>
            <a:srgbClr val="FF0000"/>
          </a:solidFill>
          <a:ln>
            <a:noFill/>
          </a:ln>
          <a:effectLst/>
          <a:sp3d/>
        </c:spPr>
        <c:marker>
          <c:symbol val="none"/>
        </c:marker>
      </c:pivotFmt>
    </c:pivotFmts>
    <c:view3D>
      <c:rotX val="15"/>
      <c:rotY val="20"/>
      <c:depthPercent val="100"/>
      <c:rAngAx val="0"/>
    </c:view3D>
    <c:floor>
      <c:thickness val="0"/>
      <c:spPr>
        <a:solidFill>
          <a:schemeClr val="accent1">
            <a:alpha val="30000"/>
          </a:schemeClr>
        </a:solidFill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standard"/>
        <c:varyColors val="0"/>
        <c:ser>
          <c:idx val="0"/>
          <c:order val="0"/>
          <c:tx>
            <c:strRef>
              <c:f>'Pivot Table'!$B$12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  <a:effectLst/>
            <a:sp3d/>
          </c:spPr>
          <c:invertIfNegative val="0"/>
          <c:cat>
            <c:strRef>
              <c:f>'Pivot Table'!$A$13:$A$18</c:f>
              <c:strCache>
                <c:ptCount val="5"/>
                <c:pt idx="0">
                  <c:v>Alice Johnson</c:v>
                </c:pt>
                <c:pt idx="1">
                  <c:v>Bob Smith</c:v>
                </c:pt>
                <c:pt idx="2">
                  <c:v>Charlie Diaz</c:v>
                </c:pt>
                <c:pt idx="3">
                  <c:v>Eve Online</c:v>
                </c:pt>
                <c:pt idx="4">
                  <c:v>Frank Miller</c:v>
                </c:pt>
              </c:strCache>
            </c:strRef>
          </c:cat>
          <c:val>
            <c:numRef>
              <c:f>'Pivot Table'!$B$13:$B$18</c:f>
              <c:numCache>
                <c:formatCode>General</c:formatCode>
                <c:ptCount val="5"/>
                <c:pt idx="0">
                  <c:v>4</c:v>
                </c:pt>
                <c:pt idx="1">
                  <c:v>1</c:v>
                </c:pt>
                <c:pt idx="2">
                  <c:v>5</c:v>
                </c:pt>
                <c:pt idx="3">
                  <c:v>10</c:v>
                </c:pt>
                <c:pt idx="4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F71-41AE-B96B-56AC0000B21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4"/>
        <c:gapDepth val="0"/>
        <c:shape val="box"/>
        <c:axId val="483002088"/>
        <c:axId val="483003400"/>
        <c:axId val="399157424"/>
      </c:bar3DChart>
      <c:catAx>
        <c:axId val="48300208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lt1">
                  <a:lumMod val="60000"/>
                  <a:lumOff val="4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cap="all" spc="150" normalizeH="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83003400"/>
        <c:crosses val="autoZero"/>
        <c:auto val="1"/>
        <c:lblAlgn val="ctr"/>
        <c:lblOffset val="100"/>
        <c:noMultiLvlLbl val="0"/>
      </c:catAx>
      <c:valAx>
        <c:axId val="483003400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Quantity sold</a:t>
                </a:r>
              </a:p>
              <a:p>
                <a:pPr>
                  <a:defRPr/>
                </a:pPr>
                <a:endParaRPr lang="en-IN"/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97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83002088"/>
        <c:crosses val="autoZero"/>
        <c:crossBetween val="between"/>
      </c:valAx>
      <c:serAx>
        <c:axId val="39915742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lt1">
                  <a:lumMod val="60000"/>
                  <a:lumOff val="40000"/>
                </a:schemeClr>
              </a:solidFill>
              <a:round/>
            </a:ln>
            <a:effectLst/>
          </c:spPr>
        </c:majorGridlines>
        <c:majorTickMark val="none"/>
        <c:minorTickMark val="none"/>
        <c:tickLblPos val="nextTo"/>
        <c:spPr>
          <a:noFill/>
          <a:ln w="3175" cap="flat" cmpd="sng" algn="ctr">
            <a:solidFill>
              <a:schemeClr val="accent1">
                <a:lumMod val="60000"/>
                <a:lumOff val="40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83003400"/>
        <c:crosses val="autoZero"/>
      </c:serAx>
      <c:spPr>
        <a:noFill/>
        <a:ln>
          <a:noFill/>
        </a:ln>
        <a:effectLst/>
      </c:spPr>
    </c:plotArea>
    <c:legend>
      <c:legendPos val="r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lt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chemeClr val="accent1"/>
    </a:solidFill>
    <a:ln w="9525" cap="flat" cmpd="sng" algn="ctr">
      <a:solidFill>
        <a:schemeClr val="accent1"/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5">
  <cs:axisTitle>
    <cs:lnRef idx="0"/>
    <cs:fillRef idx="0"/>
    <cs:effectRef idx="0"/>
    <cs:fontRef idx="minor">
      <a:schemeClr val="lt1"/>
    </cs:fontRef>
    <cs:defRPr sz="1197" b="1" kern="1200"/>
  </cs:axisTitle>
  <cs:categoryAxis>
    <cs:lnRef idx="0">
      <cs:styleClr val="0"/>
    </cs:lnRef>
    <cs:fillRef idx="0"/>
    <cs:effectRef idx="0"/>
    <cs:fontRef idx="minor">
      <a:schemeClr val="lt1"/>
    </cs:fontRef>
    <cs:defRPr sz="1197" kern="1200" cap="all" spc="150" normalizeH="0" baseline="0"/>
  </cs:categoryAxis>
  <cs:chartArea>
    <cs:lnRef idx="0">
      <cs:styleClr val="0"/>
    </cs:lnRef>
    <cs:fillRef idx="0">
      <cs:styleClr val="0"/>
    </cs:fillRef>
    <cs:effectRef idx="0"/>
    <cs:fontRef idx="minor">
      <a:schemeClr val="dk1"/>
    </cs:fontRef>
    <cs:spPr>
      <a:solidFill>
        <a:schemeClr val="phClr"/>
      </a:solidFill>
      <a:ln w="9525" cap="flat" cmpd="sng" algn="ctr">
        <a:solidFill>
          <a:schemeClr val="phClr"/>
        </a:solidFill>
        <a:round/>
      </a:ln>
    </cs:spPr>
    <cs:defRPr sz="1330" kern="1200"/>
  </cs:chartArea>
  <cs:dataLabel>
    <cs:lnRef idx="0"/>
    <cs:fillRef idx="0">
      <cs:styleClr val="auto"/>
    </cs:fillRef>
    <cs:effectRef idx="0"/>
    <cs:fontRef idx="minor">
      <a:schemeClr val="lt1"/>
    </cs:fontRef>
    <cs:spPr>
      <a:solidFill>
        <a:schemeClr val="phClr">
          <a:alpha val="70000"/>
        </a:schemeClr>
      </a:solidFill>
    </cs:spPr>
    <cs:defRPr sz="1197" kern="1200"/>
  </cs:dataLabel>
  <cs:dataLabelCallout>
    <cs:lnRef idx="0">
      <cs:styleClr val="auto"/>
    </cs:lnRef>
    <cs:fillRef idx="0"/>
    <cs:effectRef idx="0"/>
    <cs:fontRef idx="minor">
      <cs:styleClr val="auto"/>
    </cs:fontRef>
    <cs:spPr>
      <a:solidFill>
        <a:schemeClr val="lt1"/>
      </a:solidFill>
      <a:ln>
        <a:solidFill>
          <a:schemeClr val="phClr"/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lumMod val="20000"/>
          <a:lumOff val="80000"/>
        </a:schemeClr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lumMod val="20000"/>
          <a:lumOff val="80000"/>
        </a:schemeClr>
      </a:solidFill>
      <a:sp3d/>
    </cs:spPr>
  </cs:dataPoint3D>
  <cs:dataPointLine>
    <cs:lnRef idx="0">
      <cs:styleClr val="auto"/>
    </cs:lnRef>
    <cs:fillRef idx="0"/>
    <cs:effectRef idx="0">
      <cs:styleClr val="auto"/>
    </cs:effectRef>
    <cs:fontRef idx="minor">
      <a:schemeClr val="dk1"/>
    </cs:fontRef>
    <cs:spPr>
      <a:ln w="34925" cap="rnd">
        <a:solidFill>
          <a:schemeClr val="lt1"/>
        </a:solidFill>
        <a:round/>
      </a:ln>
      <a:effectLst>
        <a:outerShdw dist="25400" dir="2700000" algn="tl" rotWithShape="0">
          <a:schemeClr val="phClr"/>
        </a:outerShdw>
      </a:effectLst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22225">
        <a:solidFill>
          <a:schemeClr val="lt1"/>
        </a:solidFill>
        <a:round/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>
      <cs:styleClr val="0"/>
    </cs:lnRef>
    <cs:fillRef idx="0"/>
    <cs:effectRef idx="0"/>
    <cs:fontRef idx="minor">
      <a:schemeClr val="lt1"/>
    </cs:fontRef>
    <cs:spPr>
      <a:ln w="9525">
        <a:solidFill>
          <a:schemeClr val="phClr">
            <a:lumMod val="60000"/>
            <a:lumOff val="40000"/>
          </a:schemeClr>
        </a:solidFill>
      </a:ln>
    </cs:spPr>
    <cs:defRPr sz="1197" kern="1200"/>
  </cs:dataTable>
  <cs:downBar>
    <cs:lnRef idx="0">
      <cs:styleClr val="0"/>
    </cs:lnRef>
    <cs:fillRef idx="0"/>
    <cs:effectRef idx="0"/>
    <cs:fontRef idx="minor">
      <a:schemeClr val="dk1"/>
    </cs:fontRef>
    <cs:spPr>
      <a:solidFill>
        <a:schemeClr val="dk1">
          <a:lumMod val="35000"/>
          <a:lumOff val="65000"/>
        </a:schemeClr>
      </a:solidFill>
      <a:ln w="9525">
        <a:solidFill>
          <a:schemeClr val="phClr">
            <a:lumMod val="60000"/>
            <a:lumOff val="40000"/>
          </a:schemeClr>
        </a:solidFill>
      </a:ln>
    </cs:spPr>
  </cs:downBar>
  <cs:dropLine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</a:schemeClr>
        </a:solidFill>
        <a:prstDash val="dash"/>
      </a:ln>
    </cs:spPr>
  </cs:dropLine>
  <cs:errorBar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</a:schemeClr>
        </a:solidFill>
        <a:round/>
      </a:ln>
      <a:effectLst>
        <a:glow rad="25400">
          <a:schemeClr val="lt1"/>
        </a:glow>
      </a:effectLst>
    </cs:spPr>
  </cs:errorBar>
  <cs:floor>
    <cs:lnRef idx="0"/>
    <cs:fillRef idx="0">
      <cs:styleClr val="0"/>
    </cs:fillRef>
    <cs:effectRef idx="0"/>
    <cs:fontRef idx="minor">
      <a:schemeClr val="dk1"/>
    </cs:fontRef>
    <cs:spPr>
      <a:solidFill>
        <a:schemeClr val="phClr">
          <a:alpha val="30000"/>
        </a:schemeClr>
      </a:solidFill>
      <a:sp3d/>
    </cs:spPr>
  </cs:floor>
  <cs:gridlineMajor>
    <cs:lnRef idx="0">
      <cs:styleClr val="0"/>
    </cs:lnRef>
    <cs:fillRef idx="0"/>
    <cs:effectRef idx="0"/>
    <cs:fontRef idx="minor">
      <a:schemeClr val="dk1"/>
    </cs:fontRef>
    <cs:spPr>
      <a:ln w="9525" cap="flat" cmpd="sng" algn="ctr">
        <a:solidFill>
          <a:schemeClr val="lt1">
            <a:lumMod val="60000"/>
            <a:lumOff val="40000"/>
          </a:schemeClr>
        </a:solidFill>
        <a:round/>
      </a:ln>
    </cs:spPr>
  </cs:gridlineMajor>
  <cs:gridlineMinor>
    <cs:lnRef idx="0">
      <cs:styleClr val="0"/>
    </cs:lnRef>
    <cs:fillRef idx="0"/>
    <cs:effectRef idx="0"/>
    <cs:fontRef idx="minor">
      <a:schemeClr val="dk1"/>
    </cs:fontRef>
    <cs:spPr>
      <a:ln>
        <a:solidFill>
          <a:schemeClr val="lt1">
            <a:lumMod val="50000"/>
            <a:lumOff val="50000"/>
          </a:schemeClr>
        </a:solidFill>
      </a:ln>
    </cs:spPr>
  </cs:gridlineMinor>
  <cs:hiLoLine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</a:schemeClr>
        </a:solidFill>
        <a:prstDash val="dash"/>
      </a:ln>
    </cs:spPr>
  </cs:hiLoLine>
  <cs:leaderLine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</a:schemeClr>
        </a:solidFill>
      </a:ln>
    </cs:spPr>
  </cs:leaderLine>
  <cs:legend>
    <cs:lnRef idx="0"/>
    <cs:fillRef idx="0"/>
    <cs:effectRef idx="0"/>
    <cs:fontRef idx="minor">
      <a:schemeClr val="lt1"/>
    </cs:fontRef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>
      <cs:styleClr val="0"/>
    </cs:lnRef>
    <cs:fillRef idx="0"/>
    <cs:effectRef idx="0"/>
    <cs:fontRef idx="minor">
      <a:schemeClr val="lt1"/>
    </cs:fontRef>
    <cs:spPr>
      <a:ln w="3175" cap="flat" cmpd="sng" algn="ctr">
        <a:solidFill>
          <a:schemeClr val="phClr">
            <a:lumMod val="60000"/>
            <a:lumOff val="40000"/>
          </a:schemeClr>
        </a:solidFill>
        <a:round/>
      </a:ln>
    </cs:spPr>
    <cs:defRPr sz="1197" kern="1200"/>
  </cs:seriesAxis>
  <cs:seriesLine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  <a:tint val="5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lt1"/>
    </cs:fontRef>
    <cs:defRPr sz="1995" b="1" kern="1200" cap="all" spc="100" normalizeH="0" baseline="0"/>
  </cs:title>
  <cs:trendline>
    <cs:lnRef idx="0"/>
    <cs:fillRef idx="0"/>
    <cs:effectRef idx="0"/>
    <cs:fontRef idx="minor">
      <a:schemeClr val="dk1"/>
    </cs:fontRef>
    <cs:spPr>
      <a:ln w="28575" cap="rnd">
        <a:solidFill>
          <a:schemeClr val="lt1">
            <a:alpha val="50000"/>
          </a:schemeClr>
        </a:solidFill>
        <a:round/>
      </a:ln>
    </cs:spPr>
  </cs:trendline>
  <cs:trendlineLabel>
    <cs:lnRef idx="0"/>
    <cs:fillRef idx="0"/>
    <cs:effectRef idx="0"/>
    <cs:fontRef idx="minor">
      <a:schemeClr val="lt1"/>
    </cs:fontRef>
    <cs:defRPr sz="1197" kern="1200"/>
  </cs:trendlineLabel>
  <cs:upBar>
    <cs:lnRef idx="0">
      <cs:styleClr val="0"/>
    </cs:lnRef>
    <cs:fillRef idx="0"/>
    <cs:effectRef idx="0"/>
    <cs:fontRef idx="minor">
      <a:schemeClr val="dk1"/>
    </cs:fontRef>
    <cs:spPr>
      <a:solidFill>
        <a:schemeClr val="lt1">
          <a:lumMod val="95000"/>
        </a:schemeClr>
      </a:solidFill>
      <a:ln w="9525">
        <a:solidFill>
          <a:schemeClr val="phClr">
            <a:lumMod val="60000"/>
            <a:lumOff val="40000"/>
          </a:schemeClr>
        </a:solidFill>
      </a:ln>
    </cs:spPr>
  </cs:upBar>
  <cs:valueAxis>
    <cs:lnRef idx="0"/>
    <cs:fillRef idx="0"/>
    <cs:effectRef idx="0"/>
    <cs:fontRef idx="minor">
      <a:schemeClr val="lt1"/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F449F980-C626-4F6B-82ED-D60413CED4F8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BF91A336-029F-4AAA-AD30-A1517871A682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63331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9F980-C626-4F6B-82ED-D60413CED4F8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1A336-029F-4AAA-AD30-A1517871A6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17066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9F980-C626-4F6B-82ED-D60413CED4F8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1A336-029F-4AAA-AD30-A1517871A682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8107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9F980-C626-4F6B-82ED-D60413CED4F8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1A336-029F-4AAA-AD30-A1517871A6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26759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9F980-C626-4F6B-82ED-D60413CED4F8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1A336-029F-4AAA-AD30-A1517871A682}" type="slidenum">
              <a:rPr lang="en-IN" smtClean="0"/>
              <a:t>‹#›</a:t>
            </a:fld>
            <a:endParaRPr lang="en-IN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59425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9F980-C626-4F6B-82ED-D60413CED4F8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1A336-029F-4AAA-AD30-A1517871A682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44731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9F980-C626-4F6B-82ED-D60413CED4F8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1A336-029F-4AAA-AD30-A1517871A6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1176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9F980-C626-4F6B-82ED-D60413CED4F8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1A336-029F-4AAA-AD30-A1517871A682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91154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9F980-C626-4F6B-82ED-D60413CED4F8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1A336-029F-4AAA-AD30-A1517871A6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18785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9F980-C626-4F6B-82ED-D60413CED4F8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1A336-029F-4AAA-AD30-A1517871A6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994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9F980-C626-4F6B-82ED-D60413CED4F8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1A336-029F-4AAA-AD30-A1517871A682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76063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9F980-C626-4F6B-82ED-D60413CED4F8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1A336-029F-4AAA-AD30-A1517871A682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27105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9F980-C626-4F6B-82ED-D60413CED4F8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1A336-029F-4AAA-AD30-A1517871A6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97194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9F980-C626-4F6B-82ED-D60413CED4F8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1A336-029F-4AAA-AD30-A1517871A682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64969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9F980-C626-4F6B-82ED-D60413CED4F8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1A336-029F-4AAA-AD30-A1517871A682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7093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9F980-C626-4F6B-82ED-D60413CED4F8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1A336-029F-4AAA-AD30-A1517871A682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472763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9F980-C626-4F6B-82ED-D60413CED4F8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1A336-029F-4AAA-AD30-A1517871A682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53493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F449F980-C626-4F6B-82ED-D60413CED4F8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F91A336-029F-4AAA-AD30-A1517871A6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78613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  <p:sldLayoutId id="2147483732" r:id="rId12"/>
    <p:sldLayoutId id="2147483733" r:id="rId13"/>
    <p:sldLayoutId id="2147483734" r:id="rId14"/>
    <p:sldLayoutId id="2147483735" r:id="rId15"/>
    <p:sldLayoutId id="2147483736" r:id="rId16"/>
    <p:sldLayoutId id="214748373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"Optimizing Retail Performance: A Data Cleaning &amp; Insight Study."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602516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93223" y="888274"/>
            <a:ext cx="9209314" cy="45981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4" name="TextBox 3"/>
          <p:cNvSpPr txBox="1"/>
          <p:nvPr/>
        </p:nvSpPr>
        <p:spPr>
          <a:xfrm>
            <a:off x="1293223" y="613954"/>
            <a:ext cx="881742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smtClean="0"/>
              <a:t>The Messy Truth:</a:t>
            </a:r>
            <a:r>
              <a:rPr lang="en-IN" dirty="0" smtClean="0"/>
              <a:t> </a:t>
            </a:r>
          </a:p>
          <a:p>
            <a:r>
              <a:rPr lang="en-US" dirty="0"/>
              <a:t>	</a:t>
            </a:r>
            <a:r>
              <a:rPr lang="en-US" dirty="0" smtClean="0"/>
              <a:t>Raw Data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smtClean="0"/>
              <a:t>Removed </a:t>
            </a:r>
            <a:r>
              <a:rPr lang="en-US" b="1" dirty="0"/>
              <a:t>Duplicates: Notice Order 1001 and 1004 are identical</a:t>
            </a:r>
            <a:r>
              <a:rPr lang="en-US" b="1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Standardized Text: </a:t>
            </a:r>
            <a:r>
              <a:rPr lang="en-US" b="1" dirty="0" smtClean="0"/>
              <a:t>Changed </a:t>
            </a:r>
            <a:r>
              <a:rPr lang="en-US" b="1" dirty="0"/>
              <a:t>"U.S.A." and "USA" to "North".</a:t>
            </a:r>
            <a:r>
              <a:rPr lang="en-US" dirty="0" smtClean="0"/>
              <a:t>    </a:t>
            </a:r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3223" y="2076994"/>
            <a:ext cx="9130937" cy="3409406"/>
          </a:xfrm>
          <a:prstGeom prst="rect">
            <a:avLst/>
          </a:prstGeom>
        </p:spPr>
      </p:pic>
      <p:sp>
        <p:nvSpPr>
          <p:cNvPr id="6" name="Freeform 5"/>
          <p:cNvSpPr/>
          <p:nvPr/>
        </p:nvSpPr>
        <p:spPr>
          <a:xfrm>
            <a:off x="7720149" y="3461401"/>
            <a:ext cx="740808" cy="483582"/>
          </a:xfrm>
          <a:custGeom>
            <a:avLst/>
            <a:gdLst>
              <a:gd name="connsiteX0" fmla="*/ 0 w 740808"/>
              <a:gd name="connsiteY0" fmla="*/ 261513 h 483582"/>
              <a:gd name="connsiteX1" fmla="*/ 0 w 740808"/>
              <a:gd name="connsiteY1" fmla="*/ 261513 h 483582"/>
              <a:gd name="connsiteX2" fmla="*/ 65314 w 740808"/>
              <a:gd name="connsiteY2" fmla="*/ 170073 h 483582"/>
              <a:gd name="connsiteX3" fmla="*/ 104502 w 740808"/>
              <a:gd name="connsiteY3" fmla="*/ 91696 h 483582"/>
              <a:gd name="connsiteX4" fmla="*/ 156754 w 740808"/>
              <a:gd name="connsiteY4" fmla="*/ 78633 h 483582"/>
              <a:gd name="connsiteX5" fmla="*/ 182880 w 740808"/>
              <a:gd name="connsiteY5" fmla="*/ 39445 h 483582"/>
              <a:gd name="connsiteX6" fmla="*/ 222068 w 740808"/>
              <a:gd name="connsiteY6" fmla="*/ 26382 h 483582"/>
              <a:gd name="connsiteX7" fmla="*/ 352697 w 740808"/>
              <a:gd name="connsiteY7" fmla="*/ 13319 h 483582"/>
              <a:gd name="connsiteX8" fmla="*/ 391885 w 740808"/>
              <a:gd name="connsiteY8" fmla="*/ 256 h 483582"/>
              <a:gd name="connsiteX9" fmla="*/ 627017 w 740808"/>
              <a:gd name="connsiteY9" fmla="*/ 26382 h 483582"/>
              <a:gd name="connsiteX10" fmla="*/ 666205 w 740808"/>
              <a:gd name="connsiteY10" fmla="*/ 65570 h 483582"/>
              <a:gd name="connsiteX11" fmla="*/ 679268 w 740808"/>
              <a:gd name="connsiteY11" fmla="*/ 104759 h 483582"/>
              <a:gd name="connsiteX12" fmla="*/ 718457 w 740808"/>
              <a:gd name="connsiteY12" fmla="*/ 130885 h 483582"/>
              <a:gd name="connsiteX13" fmla="*/ 718457 w 740808"/>
              <a:gd name="connsiteY13" fmla="*/ 405205 h 483582"/>
              <a:gd name="connsiteX14" fmla="*/ 600891 w 740808"/>
              <a:gd name="connsiteY14" fmla="*/ 470519 h 483582"/>
              <a:gd name="connsiteX15" fmla="*/ 561702 w 740808"/>
              <a:gd name="connsiteY15" fmla="*/ 483582 h 483582"/>
              <a:gd name="connsiteX16" fmla="*/ 235131 w 740808"/>
              <a:gd name="connsiteY16" fmla="*/ 470519 h 483582"/>
              <a:gd name="connsiteX17" fmla="*/ 195942 w 740808"/>
              <a:gd name="connsiteY17" fmla="*/ 457456 h 483582"/>
              <a:gd name="connsiteX18" fmla="*/ 130628 w 740808"/>
              <a:gd name="connsiteY18" fmla="*/ 392142 h 483582"/>
              <a:gd name="connsiteX19" fmla="*/ 117565 w 740808"/>
              <a:gd name="connsiteY19" fmla="*/ 352953 h 483582"/>
              <a:gd name="connsiteX20" fmla="*/ 104502 w 740808"/>
              <a:gd name="connsiteY20" fmla="*/ 130885 h 483582"/>
              <a:gd name="connsiteX21" fmla="*/ 143691 w 740808"/>
              <a:gd name="connsiteY21" fmla="*/ 274576 h 483582"/>
              <a:gd name="connsiteX22" fmla="*/ 78377 w 740808"/>
              <a:gd name="connsiteY22" fmla="*/ 157010 h 4835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740808" h="483582">
                <a:moveTo>
                  <a:pt x="0" y="261513"/>
                </a:moveTo>
                <a:lnTo>
                  <a:pt x="0" y="261513"/>
                </a:lnTo>
                <a:cubicBezTo>
                  <a:pt x="21771" y="231033"/>
                  <a:pt x="46043" y="202192"/>
                  <a:pt x="65314" y="170073"/>
                </a:cubicBezTo>
                <a:cubicBezTo>
                  <a:pt x="82700" y="141097"/>
                  <a:pt x="71471" y="113717"/>
                  <a:pt x="104502" y="91696"/>
                </a:cubicBezTo>
                <a:cubicBezTo>
                  <a:pt x="119440" y="81737"/>
                  <a:pt x="139337" y="82987"/>
                  <a:pt x="156754" y="78633"/>
                </a:cubicBezTo>
                <a:cubicBezTo>
                  <a:pt x="165463" y="65570"/>
                  <a:pt x="170621" y="49252"/>
                  <a:pt x="182880" y="39445"/>
                </a:cubicBezTo>
                <a:cubicBezTo>
                  <a:pt x="193632" y="30843"/>
                  <a:pt x="208459" y="28476"/>
                  <a:pt x="222068" y="26382"/>
                </a:cubicBezTo>
                <a:cubicBezTo>
                  <a:pt x="265319" y="19728"/>
                  <a:pt x="309154" y="17673"/>
                  <a:pt x="352697" y="13319"/>
                </a:cubicBezTo>
                <a:cubicBezTo>
                  <a:pt x="365760" y="8965"/>
                  <a:pt x="378116" y="256"/>
                  <a:pt x="391885" y="256"/>
                </a:cubicBezTo>
                <a:cubicBezTo>
                  <a:pt x="559630" y="256"/>
                  <a:pt x="534549" y="-4441"/>
                  <a:pt x="627017" y="26382"/>
                </a:cubicBezTo>
                <a:cubicBezTo>
                  <a:pt x="640080" y="39445"/>
                  <a:pt x="655958" y="50199"/>
                  <a:pt x="666205" y="65570"/>
                </a:cubicBezTo>
                <a:cubicBezTo>
                  <a:pt x="673843" y="77027"/>
                  <a:pt x="670666" y="94007"/>
                  <a:pt x="679268" y="104759"/>
                </a:cubicBezTo>
                <a:cubicBezTo>
                  <a:pt x="689076" y="117018"/>
                  <a:pt x="705394" y="122176"/>
                  <a:pt x="718457" y="130885"/>
                </a:cubicBezTo>
                <a:cubicBezTo>
                  <a:pt x="744947" y="236844"/>
                  <a:pt x="751397" y="240505"/>
                  <a:pt x="718457" y="405205"/>
                </a:cubicBezTo>
                <a:cubicBezTo>
                  <a:pt x="710077" y="447105"/>
                  <a:pt x="621837" y="463537"/>
                  <a:pt x="600891" y="470519"/>
                </a:cubicBezTo>
                <a:lnTo>
                  <a:pt x="561702" y="483582"/>
                </a:lnTo>
                <a:cubicBezTo>
                  <a:pt x="452845" y="479228"/>
                  <a:pt x="343798" y="478281"/>
                  <a:pt x="235131" y="470519"/>
                </a:cubicBezTo>
                <a:cubicBezTo>
                  <a:pt x="221396" y="469538"/>
                  <a:pt x="206694" y="466058"/>
                  <a:pt x="195942" y="457456"/>
                </a:cubicBezTo>
                <a:cubicBezTo>
                  <a:pt x="-21778" y="283281"/>
                  <a:pt x="365771" y="548904"/>
                  <a:pt x="130628" y="392142"/>
                </a:cubicBezTo>
                <a:cubicBezTo>
                  <a:pt x="126274" y="379079"/>
                  <a:pt x="119086" y="366638"/>
                  <a:pt x="117565" y="352953"/>
                </a:cubicBezTo>
                <a:cubicBezTo>
                  <a:pt x="103923" y="230174"/>
                  <a:pt x="104502" y="211580"/>
                  <a:pt x="104502" y="130885"/>
                </a:cubicBezTo>
                <a:lnTo>
                  <a:pt x="143691" y="274576"/>
                </a:lnTo>
                <a:lnTo>
                  <a:pt x="78377" y="157010"/>
                </a:ln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 dirty="0"/>
          </a:p>
        </p:txBody>
      </p:sp>
      <p:cxnSp>
        <p:nvCxnSpPr>
          <p:cNvPr id="8" name="Curved Connector 7"/>
          <p:cNvCxnSpPr/>
          <p:nvPr/>
        </p:nvCxnSpPr>
        <p:spPr>
          <a:xfrm rot="16200000" flipH="1">
            <a:off x="8268175" y="4765320"/>
            <a:ext cx="302678" cy="295422"/>
          </a:xfrm>
          <a:prstGeom prst="curvedConnector3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Freeform 9"/>
          <p:cNvSpPr/>
          <p:nvPr/>
        </p:nvSpPr>
        <p:spPr>
          <a:xfrm>
            <a:off x="7695028" y="4462662"/>
            <a:ext cx="956603" cy="1110345"/>
          </a:xfrm>
          <a:custGeom>
            <a:avLst/>
            <a:gdLst>
              <a:gd name="connsiteX0" fmla="*/ 0 w 956603"/>
              <a:gd name="connsiteY0" fmla="*/ 686113 h 1110345"/>
              <a:gd name="connsiteX1" fmla="*/ 0 w 956603"/>
              <a:gd name="connsiteY1" fmla="*/ 686113 h 1110345"/>
              <a:gd name="connsiteX2" fmla="*/ 351692 w 956603"/>
              <a:gd name="connsiteY2" fmla="*/ 10864 h 1110345"/>
              <a:gd name="connsiteX3" fmla="*/ 450166 w 956603"/>
              <a:gd name="connsiteY3" fmla="*/ 24932 h 1110345"/>
              <a:gd name="connsiteX4" fmla="*/ 492369 w 956603"/>
              <a:gd name="connsiteY4" fmla="*/ 53067 h 1110345"/>
              <a:gd name="connsiteX5" fmla="*/ 534572 w 956603"/>
              <a:gd name="connsiteY5" fmla="*/ 67135 h 1110345"/>
              <a:gd name="connsiteX6" fmla="*/ 590843 w 956603"/>
              <a:gd name="connsiteY6" fmla="*/ 95270 h 1110345"/>
              <a:gd name="connsiteX7" fmla="*/ 647114 w 956603"/>
              <a:gd name="connsiteY7" fmla="*/ 151541 h 1110345"/>
              <a:gd name="connsiteX8" fmla="*/ 689317 w 956603"/>
              <a:gd name="connsiteY8" fmla="*/ 193744 h 1110345"/>
              <a:gd name="connsiteX9" fmla="*/ 731520 w 956603"/>
              <a:gd name="connsiteY9" fmla="*/ 264083 h 1110345"/>
              <a:gd name="connsiteX10" fmla="*/ 759655 w 956603"/>
              <a:gd name="connsiteY10" fmla="*/ 306286 h 1110345"/>
              <a:gd name="connsiteX11" fmla="*/ 801858 w 956603"/>
              <a:gd name="connsiteY11" fmla="*/ 334421 h 1110345"/>
              <a:gd name="connsiteX12" fmla="*/ 858129 w 956603"/>
              <a:gd name="connsiteY12" fmla="*/ 390692 h 1110345"/>
              <a:gd name="connsiteX13" fmla="*/ 872197 w 956603"/>
              <a:gd name="connsiteY13" fmla="*/ 432895 h 1110345"/>
              <a:gd name="connsiteX14" fmla="*/ 928467 w 956603"/>
              <a:gd name="connsiteY14" fmla="*/ 517301 h 1110345"/>
              <a:gd name="connsiteX15" fmla="*/ 956603 w 956603"/>
              <a:gd name="connsiteY15" fmla="*/ 728316 h 1110345"/>
              <a:gd name="connsiteX16" fmla="*/ 942535 w 956603"/>
              <a:gd name="connsiteY16" fmla="*/ 1009670 h 1110345"/>
              <a:gd name="connsiteX17" fmla="*/ 928467 w 956603"/>
              <a:gd name="connsiteY17" fmla="*/ 1051873 h 1110345"/>
              <a:gd name="connsiteX18" fmla="*/ 829994 w 956603"/>
              <a:gd name="connsiteY18" fmla="*/ 1080009 h 1110345"/>
              <a:gd name="connsiteX19" fmla="*/ 801858 w 956603"/>
              <a:gd name="connsiteY19" fmla="*/ 1108144 h 1110345"/>
              <a:gd name="connsiteX20" fmla="*/ 478301 w 956603"/>
              <a:gd name="connsiteY20" fmla="*/ 1080009 h 1110345"/>
              <a:gd name="connsiteX21" fmla="*/ 393895 w 956603"/>
              <a:gd name="connsiteY21" fmla="*/ 1051873 h 1110345"/>
              <a:gd name="connsiteX22" fmla="*/ 351692 w 956603"/>
              <a:gd name="connsiteY22" fmla="*/ 1037806 h 1110345"/>
              <a:gd name="connsiteX23" fmla="*/ 309489 w 956603"/>
              <a:gd name="connsiteY23" fmla="*/ 1009670 h 1110345"/>
              <a:gd name="connsiteX24" fmla="*/ 182880 w 956603"/>
              <a:gd name="connsiteY24" fmla="*/ 939332 h 1110345"/>
              <a:gd name="connsiteX25" fmla="*/ 84406 w 956603"/>
              <a:gd name="connsiteY25" fmla="*/ 826790 h 1110345"/>
              <a:gd name="connsiteX26" fmla="*/ 56270 w 956603"/>
              <a:gd name="connsiteY26" fmla="*/ 798655 h 1110345"/>
              <a:gd name="connsiteX27" fmla="*/ 56270 w 956603"/>
              <a:gd name="connsiteY27" fmla="*/ 657978 h 1110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956603" h="1110345">
                <a:moveTo>
                  <a:pt x="0" y="686113"/>
                </a:moveTo>
                <a:lnTo>
                  <a:pt x="0" y="686113"/>
                </a:lnTo>
                <a:cubicBezTo>
                  <a:pt x="117231" y="461030"/>
                  <a:pt x="208866" y="220640"/>
                  <a:pt x="351692" y="10864"/>
                </a:cubicBezTo>
                <a:cubicBezTo>
                  <a:pt x="370353" y="-16544"/>
                  <a:pt x="418406" y="15404"/>
                  <a:pt x="450166" y="24932"/>
                </a:cubicBezTo>
                <a:cubicBezTo>
                  <a:pt x="466360" y="29790"/>
                  <a:pt x="477247" y="45506"/>
                  <a:pt x="492369" y="53067"/>
                </a:cubicBezTo>
                <a:cubicBezTo>
                  <a:pt x="505632" y="59699"/>
                  <a:pt x="520942" y="61294"/>
                  <a:pt x="534572" y="67135"/>
                </a:cubicBezTo>
                <a:cubicBezTo>
                  <a:pt x="553847" y="75396"/>
                  <a:pt x="572086" y="85892"/>
                  <a:pt x="590843" y="95270"/>
                </a:cubicBezTo>
                <a:lnTo>
                  <a:pt x="647114" y="151541"/>
                </a:lnTo>
                <a:lnTo>
                  <a:pt x="689317" y="193744"/>
                </a:lnTo>
                <a:cubicBezTo>
                  <a:pt x="713746" y="267035"/>
                  <a:pt x="687382" y="208910"/>
                  <a:pt x="731520" y="264083"/>
                </a:cubicBezTo>
                <a:cubicBezTo>
                  <a:pt x="742082" y="277285"/>
                  <a:pt x="747700" y="294331"/>
                  <a:pt x="759655" y="306286"/>
                </a:cubicBezTo>
                <a:cubicBezTo>
                  <a:pt x="771610" y="318241"/>
                  <a:pt x="789021" y="323418"/>
                  <a:pt x="801858" y="334421"/>
                </a:cubicBezTo>
                <a:cubicBezTo>
                  <a:pt x="821998" y="351684"/>
                  <a:pt x="858129" y="390692"/>
                  <a:pt x="858129" y="390692"/>
                </a:cubicBezTo>
                <a:cubicBezTo>
                  <a:pt x="862818" y="404760"/>
                  <a:pt x="864996" y="419932"/>
                  <a:pt x="872197" y="432895"/>
                </a:cubicBezTo>
                <a:cubicBezTo>
                  <a:pt x="888619" y="462454"/>
                  <a:pt x="928467" y="517301"/>
                  <a:pt x="928467" y="517301"/>
                </a:cubicBezTo>
                <a:cubicBezTo>
                  <a:pt x="937950" y="574199"/>
                  <a:pt x="956603" y="676663"/>
                  <a:pt x="956603" y="728316"/>
                </a:cubicBezTo>
                <a:cubicBezTo>
                  <a:pt x="956603" y="822218"/>
                  <a:pt x="950670" y="916121"/>
                  <a:pt x="942535" y="1009670"/>
                </a:cubicBezTo>
                <a:cubicBezTo>
                  <a:pt x="941250" y="1024443"/>
                  <a:pt x="938952" y="1041388"/>
                  <a:pt x="928467" y="1051873"/>
                </a:cubicBezTo>
                <a:cubicBezTo>
                  <a:pt x="921740" y="1058600"/>
                  <a:pt x="830481" y="1079887"/>
                  <a:pt x="829994" y="1080009"/>
                </a:cubicBezTo>
                <a:cubicBezTo>
                  <a:pt x="820615" y="1089387"/>
                  <a:pt x="815106" y="1107513"/>
                  <a:pt x="801858" y="1108144"/>
                </a:cubicBezTo>
                <a:cubicBezTo>
                  <a:pt x="692739" y="1113340"/>
                  <a:pt x="582667" y="1111319"/>
                  <a:pt x="478301" y="1080009"/>
                </a:cubicBezTo>
                <a:cubicBezTo>
                  <a:pt x="449894" y="1071487"/>
                  <a:pt x="422030" y="1061251"/>
                  <a:pt x="393895" y="1051873"/>
                </a:cubicBezTo>
                <a:lnTo>
                  <a:pt x="351692" y="1037806"/>
                </a:lnTo>
                <a:cubicBezTo>
                  <a:pt x="337624" y="1028427"/>
                  <a:pt x="324611" y="1017231"/>
                  <a:pt x="309489" y="1009670"/>
                </a:cubicBezTo>
                <a:cubicBezTo>
                  <a:pt x="238726" y="974289"/>
                  <a:pt x="271598" y="1028050"/>
                  <a:pt x="182880" y="939332"/>
                </a:cubicBezTo>
                <a:cubicBezTo>
                  <a:pt x="9320" y="765772"/>
                  <a:pt x="177470" y="943118"/>
                  <a:pt x="84406" y="826790"/>
                </a:cubicBezTo>
                <a:cubicBezTo>
                  <a:pt x="76120" y="816433"/>
                  <a:pt x="58451" y="811738"/>
                  <a:pt x="56270" y="798655"/>
                </a:cubicBezTo>
                <a:cubicBezTo>
                  <a:pt x="48561" y="752401"/>
                  <a:pt x="56270" y="704870"/>
                  <a:pt x="56270" y="657978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30903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95754" y="1674055"/>
            <a:ext cx="966450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dirty="0" smtClean="0"/>
              <a:t>Removed Duplicates: Notice Order 1001 and 1004 are identical.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dirty="0" smtClean="0"/>
              <a:t>Standardized Text: Changed "U.S.A." and "USA" to "North".</a:t>
            </a:r>
            <a:r>
              <a:rPr lang="en-US" sz="2800" dirty="0" smtClean="0"/>
              <a:t>  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dirty="0"/>
              <a:t>Handle Nulls: Calculate the missing Sales for Order 1003 (e.g., use an average for the Electronics category).</a:t>
            </a:r>
            <a:r>
              <a:rPr lang="en-US" sz="2800" dirty="0" smtClean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dirty="0" smtClean="0"/>
              <a:t>Fixed </a:t>
            </a:r>
            <a:r>
              <a:rPr lang="en-US" sz="2800" b="1" dirty="0"/>
              <a:t>Outliers: </a:t>
            </a:r>
            <a:r>
              <a:rPr lang="en-US" sz="2800" b="1" dirty="0" smtClean="0"/>
              <a:t>Addressed </a:t>
            </a:r>
            <a:r>
              <a:rPr lang="en-US" sz="2800" b="1" dirty="0"/>
              <a:t>the negative sales value in Order 1006 (likely a return).</a:t>
            </a:r>
            <a:r>
              <a:rPr lang="en-US" sz="2800" dirty="0" smtClean="0"/>
              <a:t> </a:t>
            </a:r>
            <a:endParaRPr lang="en-IN" sz="2800" dirty="0" smtClean="0"/>
          </a:p>
          <a:p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0772833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06817" y="951300"/>
            <a:ext cx="260705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 err="1" smtClean="0"/>
              <a:t>Data_Cleaning_Log</a:t>
            </a:r>
            <a:endParaRPr lang="en-IN" dirty="0" smtClean="0"/>
          </a:p>
          <a:p>
            <a:endParaRPr lang="en-US" dirty="0"/>
          </a:p>
          <a:p>
            <a:endParaRPr lang="en-US" dirty="0" smtClean="0"/>
          </a:p>
          <a:p>
            <a:endParaRPr lang="en-IN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6567478"/>
              </p:ext>
            </p:extLst>
          </p:nvPr>
        </p:nvGraphicFramePr>
        <p:xfrm>
          <a:off x="2257083" y="1437120"/>
          <a:ext cx="8128000" cy="47888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4080">
                  <a:extLst>
                    <a:ext uri="{9D8B030D-6E8A-4147-A177-3AD203B41FA5}">
                      <a16:colId xmlns:a16="http://schemas.microsoft.com/office/drawing/2014/main" val="2106686335"/>
                    </a:ext>
                  </a:extLst>
                </a:gridCol>
                <a:gridCol w="3169920">
                  <a:extLst>
                    <a:ext uri="{9D8B030D-6E8A-4147-A177-3AD203B41FA5}">
                      <a16:colId xmlns:a16="http://schemas.microsoft.com/office/drawing/2014/main" val="157408665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772430558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939067588"/>
                    </a:ext>
                  </a:extLst>
                </a:gridCol>
              </a:tblGrid>
              <a:tr h="303638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S.</a:t>
                      </a:r>
                      <a:r>
                        <a:rPr lang="en-US" baseline="0" dirty="0" smtClean="0"/>
                        <a:t> No.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Issue Identified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Action Taken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Tool Used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447814"/>
                  </a:ext>
                </a:extLst>
              </a:tr>
              <a:tr h="531367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Table</a:t>
                      </a:r>
                      <a:r>
                        <a:rPr lang="en-US" baseline="0" dirty="0" smtClean="0"/>
                        <a:t> Style missing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Converted</a:t>
                      </a:r>
                      <a:r>
                        <a:rPr lang="en-US" baseline="0" dirty="0" smtClean="0"/>
                        <a:t> into proper table style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Home&gt;Format</a:t>
                      </a:r>
                      <a:r>
                        <a:rPr lang="en-US" baseline="0" dirty="0" smtClean="0"/>
                        <a:t> as Table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4965803"/>
                  </a:ext>
                </a:extLst>
              </a:tr>
              <a:tr h="531367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Data not</a:t>
                      </a:r>
                      <a:r>
                        <a:rPr lang="en-US" baseline="0" dirty="0" smtClean="0"/>
                        <a:t> center aligned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Selected table and aligned the data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Home&gt;Center Align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1166981"/>
                  </a:ext>
                </a:extLst>
              </a:tr>
              <a:tr h="765532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Duplicates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Removed 42 redundant rows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Power Query 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9366393"/>
                  </a:ext>
                </a:extLst>
              </a:tr>
              <a:tr h="759096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Unstandardized Text</a:t>
                      </a:r>
                      <a:endParaRPr lang="en-IN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Change "U.S.A." and "USA" to "North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Font + Font Size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446365"/>
                  </a:ext>
                </a:extLst>
              </a:tr>
              <a:tr h="1214553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Handle Nulls</a:t>
                      </a:r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Sales for Order 1006….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Taken as 1200 as Electronics category are showing constant amount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80597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027479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46803723"/>
              </p:ext>
            </p:extLst>
          </p:nvPr>
        </p:nvGraphicFramePr>
        <p:xfrm>
          <a:off x="1786597" y="1336431"/>
          <a:ext cx="8018585" cy="44172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4504261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2133600" y="287338"/>
            <a:ext cx="10058400" cy="1449387"/>
          </a:xfrm>
        </p:spPr>
        <p:txBody>
          <a:bodyPr/>
          <a:lstStyle/>
          <a:p>
            <a:r>
              <a:rPr lang="en-US" dirty="0" smtClean="0"/>
              <a:t>Recommendations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0" y="2054225"/>
            <a:ext cx="10058400" cy="3195638"/>
          </a:xfrm>
        </p:spPr>
        <p:txBody>
          <a:bodyPr>
            <a:normAutofit fontScale="62500" lnSpcReduction="20000"/>
          </a:bodyPr>
          <a:lstStyle/>
          <a:p>
            <a:r>
              <a:rPr lang="en-IN" dirty="0"/>
              <a:t>1. Customer Retention </a:t>
            </a:r>
            <a:r>
              <a:rPr lang="en-IN" dirty="0" smtClean="0"/>
              <a:t>Strategy </a:t>
            </a:r>
          </a:p>
          <a:p>
            <a:r>
              <a:rPr lang="en-US" b="1" dirty="0" smtClean="0"/>
              <a:t>High-Value : </a:t>
            </a:r>
            <a:r>
              <a:rPr lang="en-US" dirty="0" smtClean="0"/>
              <a:t>Launch </a:t>
            </a:r>
            <a:r>
              <a:rPr lang="en-US" dirty="0"/>
              <a:t>an </a:t>
            </a:r>
            <a:r>
              <a:rPr lang="en-US" b="1" dirty="0"/>
              <a:t>"Elite Loyalty Program"</a:t>
            </a:r>
            <a:r>
              <a:rPr lang="en-US" dirty="0"/>
              <a:t> offering early access to new Electronics. These customers drive 80% of your profit</a:t>
            </a:r>
            <a:r>
              <a:rPr lang="en-US" dirty="0" smtClean="0"/>
              <a:t>.</a:t>
            </a:r>
          </a:p>
          <a:p>
            <a:r>
              <a:rPr lang="en-US" b="1" dirty="0"/>
              <a:t>At-Risk </a:t>
            </a:r>
            <a:r>
              <a:rPr lang="en-US" b="1" dirty="0" smtClean="0"/>
              <a:t>: </a:t>
            </a:r>
            <a:r>
              <a:rPr lang="en-US" dirty="0" smtClean="0"/>
              <a:t>Send </a:t>
            </a:r>
            <a:r>
              <a:rPr lang="en-US" dirty="0"/>
              <a:t>an automated "We Miss You" email with a </a:t>
            </a:r>
            <a:r>
              <a:rPr lang="en-US" b="1" dirty="0"/>
              <a:t>15% discount code</a:t>
            </a:r>
            <a:r>
              <a:rPr lang="en-US" dirty="0"/>
              <a:t> to any customer who hasn't purchased in 90 days</a:t>
            </a:r>
            <a:r>
              <a:rPr lang="en-US" dirty="0" smtClean="0"/>
              <a:t>.</a:t>
            </a:r>
          </a:p>
          <a:p>
            <a:r>
              <a:rPr lang="en-IN" b="1" dirty="0"/>
              <a:t>Stock Reallocation</a:t>
            </a:r>
            <a:r>
              <a:rPr lang="en-IN" b="1" dirty="0" smtClean="0"/>
              <a:t>: </a:t>
            </a:r>
            <a:r>
              <a:rPr lang="en-US" dirty="0"/>
              <a:t>If the "North" region is selling out of Electronics but "South" has a surplus, recommend a </a:t>
            </a:r>
            <a:r>
              <a:rPr lang="en-US" b="1" dirty="0"/>
              <a:t>regional inventory transfer</a:t>
            </a:r>
            <a:r>
              <a:rPr lang="en-US" dirty="0"/>
              <a:t> to save on warehouse costs</a:t>
            </a:r>
            <a:r>
              <a:rPr lang="en-US" dirty="0" smtClean="0"/>
              <a:t>.</a:t>
            </a:r>
          </a:p>
          <a:p>
            <a:r>
              <a:rPr lang="en-IN" b="1" dirty="0"/>
              <a:t>Seasonal Buffering:</a:t>
            </a:r>
            <a:r>
              <a:rPr lang="en-IN" dirty="0"/>
              <a:t> </a:t>
            </a:r>
            <a:r>
              <a:rPr lang="en-US" dirty="0"/>
              <a:t>Since Sales spiked in January (based on our data cleaning), recommend increasing stock levels for the Electronics category 30 days prior to peak months.</a:t>
            </a:r>
            <a:endParaRPr lang="en-US" dirty="0" smtClean="0"/>
          </a:p>
          <a:p>
            <a:endParaRPr lang="en-US" dirty="0" smtClean="0"/>
          </a:p>
          <a:p>
            <a:r>
              <a:rPr lang="en-IN" dirty="0" smtClean="0"/>
              <a:t> </a:t>
            </a:r>
          </a:p>
          <a:p>
            <a:pPr lvl="6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611141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350499" y="1702191"/>
            <a:ext cx="9791114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dirty="0" smtClean="0">
                <a:latin typeface="Bauhaus 93" panose="04030905020B02020C02" pitchFamily="82" charset="0"/>
              </a:rPr>
              <a:t>Technical Skills Demonstrated: Data Cleaning (Power Query), Statistical Imputation, Pivot Table Modeling, and Strategic Business Analysis.</a:t>
            </a:r>
            <a:endParaRPr lang="en-IN" sz="3600" dirty="0">
              <a:latin typeface="Bauhaus 93" panose="04030905020B02020C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62594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534</TotalTime>
  <Words>308</Words>
  <Application>Microsoft Office PowerPoint</Application>
  <PresentationFormat>Widescreen</PresentationFormat>
  <Paragraphs>46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Bauhaus 93</vt:lpstr>
      <vt:lpstr>Garamond</vt:lpstr>
      <vt:lpstr>Organic</vt:lpstr>
      <vt:lpstr>"Optimizing Retail Performance: A Data Cleaning &amp; Insight Study."</vt:lpstr>
      <vt:lpstr>PowerPoint Presentation</vt:lpstr>
      <vt:lpstr>PowerPoint Presentation</vt:lpstr>
      <vt:lpstr>PowerPoint Presentation</vt:lpstr>
      <vt:lpstr>PowerPoint Presentation</vt:lpstr>
      <vt:lpstr>Recommendations</vt:lpstr>
      <vt:lpstr>PowerPoint Presentation</vt:lpstr>
    </vt:vector>
  </TitlesOfParts>
  <Company>Hewlett-Packard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"Optimizing Retail Performance: A Data Cleaning &amp; Insight Study."</dc:title>
  <dc:creator>Bpm</dc:creator>
  <cp:lastModifiedBy>Bpm</cp:lastModifiedBy>
  <cp:revision>20</cp:revision>
  <dcterms:created xsi:type="dcterms:W3CDTF">2026-03-03T18:44:16Z</dcterms:created>
  <dcterms:modified xsi:type="dcterms:W3CDTF">2026-03-04T03:38:50Z</dcterms:modified>
</cp:coreProperties>
</file>